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8" r:id="rId11"/>
    <p:sldId id="269" r:id="rId12"/>
    <p:sldId id="270" r:id="rId13"/>
    <p:sldId id="271" r:id="rId14"/>
    <p:sldId id="272"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2" autoAdjust="0"/>
    <p:restoredTop sz="94660"/>
  </p:normalViewPr>
  <p:slideViewPr>
    <p:cSldViewPr snapToGrid="0">
      <p:cViewPr varScale="1">
        <p:scale>
          <a:sx n="65" d="100"/>
          <a:sy n="65" d="100"/>
        </p:scale>
        <p:origin x="72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95589-87A9-9255-522A-4FA7A80CCD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AC290B-A9CE-AE33-D620-B82AA591B0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52C8AA-8BDC-5FFA-9AEC-32D18A9F547C}"/>
              </a:ext>
            </a:extLst>
          </p:cNvPr>
          <p:cNvSpPr>
            <a:spLocks noGrp="1"/>
          </p:cNvSpPr>
          <p:nvPr>
            <p:ph type="dt" sz="half" idx="10"/>
          </p:nvPr>
        </p:nvSpPr>
        <p:spPr/>
        <p:txBody>
          <a:bodyPr/>
          <a:lstStyle/>
          <a:p>
            <a:fld id="{A094E200-6372-4DAE-AC23-5F820719FCD5}" type="datetimeFigureOut">
              <a:rPr lang="en-IN" smtClean="0"/>
              <a:t>23-03-2026</a:t>
            </a:fld>
            <a:endParaRPr lang="en-IN"/>
          </a:p>
        </p:txBody>
      </p:sp>
      <p:sp>
        <p:nvSpPr>
          <p:cNvPr id="5" name="Footer Placeholder 4">
            <a:extLst>
              <a:ext uri="{FF2B5EF4-FFF2-40B4-BE49-F238E27FC236}">
                <a16:creationId xmlns:a16="http://schemas.microsoft.com/office/drawing/2014/main" id="{163163F4-C2CA-97EA-8860-2887A2E539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285F43-108F-51DF-0B33-FDE7639F1881}"/>
              </a:ext>
            </a:extLst>
          </p:cNvPr>
          <p:cNvSpPr>
            <a:spLocks noGrp="1"/>
          </p:cNvSpPr>
          <p:nvPr>
            <p:ph type="sldNum" sz="quarter" idx="12"/>
          </p:nvPr>
        </p:nvSpPr>
        <p:spPr/>
        <p:txBody>
          <a:bodyPr/>
          <a:lstStyle/>
          <a:p>
            <a:fld id="{B53C4E5F-83B1-4229-8D1F-43177BB0998D}" type="slidenum">
              <a:rPr lang="en-IN" smtClean="0"/>
              <a:t>‹#›</a:t>
            </a:fld>
            <a:endParaRPr lang="en-IN"/>
          </a:p>
        </p:txBody>
      </p:sp>
    </p:spTree>
    <p:extLst>
      <p:ext uri="{BB962C8B-B14F-4D97-AF65-F5344CB8AC3E}">
        <p14:creationId xmlns:p14="http://schemas.microsoft.com/office/powerpoint/2010/main" val="2948076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711D3-B568-0793-B7D8-5F3813427E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66CA8F-4C3C-A7FE-7E3F-485F5044298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C6B771-8D1C-55F3-1944-4D700C9DC284}"/>
              </a:ext>
            </a:extLst>
          </p:cNvPr>
          <p:cNvSpPr>
            <a:spLocks noGrp="1"/>
          </p:cNvSpPr>
          <p:nvPr>
            <p:ph type="dt" sz="half" idx="10"/>
          </p:nvPr>
        </p:nvSpPr>
        <p:spPr/>
        <p:txBody>
          <a:bodyPr/>
          <a:lstStyle/>
          <a:p>
            <a:fld id="{A094E200-6372-4DAE-AC23-5F820719FCD5}" type="datetimeFigureOut">
              <a:rPr lang="en-IN" smtClean="0"/>
              <a:t>23-03-2026</a:t>
            </a:fld>
            <a:endParaRPr lang="en-IN"/>
          </a:p>
        </p:txBody>
      </p:sp>
      <p:sp>
        <p:nvSpPr>
          <p:cNvPr id="5" name="Footer Placeholder 4">
            <a:extLst>
              <a:ext uri="{FF2B5EF4-FFF2-40B4-BE49-F238E27FC236}">
                <a16:creationId xmlns:a16="http://schemas.microsoft.com/office/drawing/2014/main" id="{58E4145D-749A-5876-D20B-5F3AA65BA2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BF8952-3692-4A9D-F006-C96C3B9DF56F}"/>
              </a:ext>
            </a:extLst>
          </p:cNvPr>
          <p:cNvSpPr>
            <a:spLocks noGrp="1"/>
          </p:cNvSpPr>
          <p:nvPr>
            <p:ph type="sldNum" sz="quarter" idx="12"/>
          </p:nvPr>
        </p:nvSpPr>
        <p:spPr/>
        <p:txBody>
          <a:bodyPr/>
          <a:lstStyle/>
          <a:p>
            <a:fld id="{B53C4E5F-83B1-4229-8D1F-43177BB0998D}" type="slidenum">
              <a:rPr lang="en-IN" smtClean="0"/>
              <a:t>‹#›</a:t>
            </a:fld>
            <a:endParaRPr lang="en-IN"/>
          </a:p>
        </p:txBody>
      </p:sp>
    </p:spTree>
    <p:extLst>
      <p:ext uri="{BB962C8B-B14F-4D97-AF65-F5344CB8AC3E}">
        <p14:creationId xmlns:p14="http://schemas.microsoft.com/office/powerpoint/2010/main" val="279455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ABDD9-ABA1-C817-2487-9FD4395F43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573A2FB-60A9-D7DA-EED6-C46B97F3F7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352331-D679-EE9E-C871-8B19305F8676}"/>
              </a:ext>
            </a:extLst>
          </p:cNvPr>
          <p:cNvSpPr>
            <a:spLocks noGrp="1"/>
          </p:cNvSpPr>
          <p:nvPr>
            <p:ph type="dt" sz="half" idx="10"/>
          </p:nvPr>
        </p:nvSpPr>
        <p:spPr/>
        <p:txBody>
          <a:bodyPr/>
          <a:lstStyle/>
          <a:p>
            <a:fld id="{A094E200-6372-4DAE-AC23-5F820719FCD5}" type="datetimeFigureOut">
              <a:rPr lang="en-IN" smtClean="0"/>
              <a:t>23-03-2026</a:t>
            </a:fld>
            <a:endParaRPr lang="en-IN"/>
          </a:p>
        </p:txBody>
      </p:sp>
      <p:sp>
        <p:nvSpPr>
          <p:cNvPr id="5" name="Footer Placeholder 4">
            <a:extLst>
              <a:ext uri="{FF2B5EF4-FFF2-40B4-BE49-F238E27FC236}">
                <a16:creationId xmlns:a16="http://schemas.microsoft.com/office/drawing/2014/main" id="{881F98CF-3CDB-3421-583F-E53452FB17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F03522-90E7-2CB2-8B6A-37FBB22FE189}"/>
              </a:ext>
            </a:extLst>
          </p:cNvPr>
          <p:cNvSpPr>
            <a:spLocks noGrp="1"/>
          </p:cNvSpPr>
          <p:nvPr>
            <p:ph type="sldNum" sz="quarter" idx="12"/>
          </p:nvPr>
        </p:nvSpPr>
        <p:spPr/>
        <p:txBody>
          <a:bodyPr/>
          <a:lstStyle/>
          <a:p>
            <a:fld id="{B53C4E5F-83B1-4229-8D1F-43177BB0998D}" type="slidenum">
              <a:rPr lang="en-IN" smtClean="0"/>
              <a:t>‹#›</a:t>
            </a:fld>
            <a:endParaRPr lang="en-IN"/>
          </a:p>
        </p:txBody>
      </p:sp>
    </p:spTree>
    <p:extLst>
      <p:ext uri="{BB962C8B-B14F-4D97-AF65-F5344CB8AC3E}">
        <p14:creationId xmlns:p14="http://schemas.microsoft.com/office/powerpoint/2010/main" val="3947850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5E563-F9C2-2288-46D3-C770DDB9A5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C89AD3-D0B0-ED42-D7D7-7472773B18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9A1398-2524-B442-A85E-F45622FD8E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AFBB341-DB29-6D13-E5A9-8B24050F1420}"/>
              </a:ext>
            </a:extLst>
          </p:cNvPr>
          <p:cNvSpPr>
            <a:spLocks noGrp="1"/>
          </p:cNvSpPr>
          <p:nvPr>
            <p:ph type="dt" sz="half" idx="10"/>
          </p:nvPr>
        </p:nvSpPr>
        <p:spPr/>
        <p:txBody>
          <a:bodyPr/>
          <a:lstStyle/>
          <a:p>
            <a:fld id="{A094E200-6372-4DAE-AC23-5F820719FCD5}" type="datetimeFigureOut">
              <a:rPr lang="en-IN" smtClean="0"/>
              <a:t>23-03-2026</a:t>
            </a:fld>
            <a:endParaRPr lang="en-IN"/>
          </a:p>
        </p:txBody>
      </p:sp>
      <p:sp>
        <p:nvSpPr>
          <p:cNvPr id="6" name="Footer Placeholder 5">
            <a:extLst>
              <a:ext uri="{FF2B5EF4-FFF2-40B4-BE49-F238E27FC236}">
                <a16:creationId xmlns:a16="http://schemas.microsoft.com/office/drawing/2014/main" id="{91284FE9-2AA4-2017-8203-725B47F775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0DD1E7-1867-6AD7-9762-3E2FFE7067A3}"/>
              </a:ext>
            </a:extLst>
          </p:cNvPr>
          <p:cNvSpPr>
            <a:spLocks noGrp="1"/>
          </p:cNvSpPr>
          <p:nvPr>
            <p:ph type="sldNum" sz="quarter" idx="12"/>
          </p:nvPr>
        </p:nvSpPr>
        <p:spPr/>
        <p:txBody>
          <a:bodyPr/>
          <a:lstStyle/>
          <a:p>
            <a:fld id="{B53C4E5F-83B1-4229-8D1F-43177BB0998D}" type="slidenum">
              <a:rPr lang="en-IN" smtClean="0"/>
              <a:t>‹#›</a:t>
            </a:fld>
            <a:endParaRPr lang="en-IN"/>
          </a:p>
        </p:txBody>
      </p:sp>
    </p:spTree>
    <p:extLst>
      <p:ext uri="{BB962C8B-B14F-4D97-AF65-F5344CB8AC3E}">
        <p14:creationId xmlns:p14="http://schemas.microsoft.com/office/powerpoint/2010/main" val="2649859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8E10B-3BB8-48FD-AEC1-B237D3998B3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D40210-BBEB-B884-A098-9241DF03E8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06B5B4-397D-D5C1-8116-7D2C736BB2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2E6EA0B-039F-8706-BD53-B38DF3B940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3AF339-93D3-9164-3216-4200B082A1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B86AB90-B0F1-FCBD-5CE5-98D8DA407047}"/>
              </a:ext>
            </a:extLst>
          </p:cNvPr>
          <p:cNvSpPr>
            <a:spLocks noGrp="1"/>
          </p:cNvSpPr>
          <p:nvPr>
            <p:ph type="dt" sz="half" idx="10"/>
          </p:nvPr>
        </p:nvSpPr>
        <p:spPr/>
        <p:txBody>
          <a:bodyPr/>
          <a:lstStyle/>
          <a:p>
            <a:fld id="{A094E200-6372-4DAE-AC23-5F820719FCD5}" type="datetimeFigureOut">
              <a:rPr lang="en-IN" smtClean="0"/>
              <a:t>23-03-2026</a:t>
            </a:fld>
            <a:endParaRPr lang="en-IN"/>
          </a:p>
        </p:txBody>
      </p:sp>
      <p:sp>
        <p:nvSpPr>
          <p:cNvPr id="8" name="Footer Placeholder 7">
            <a:extLst>
              <a:ext uri="{FF2B5EF4-FFF2-40B4-BE49-F238E27FC236}">
                <a16:creationId xmlns:a16="http://schemas.microsoft.com/office/drawing/2014/main" id="{8C878C72-AEFC-61C5-75AA-A1BEF3652CF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A572B89-B1FA-9603-3F13-A751C7D65C87}"/>
              </a:ext>
            </a:extLst>
          </p:cNvPr>
          <p:cNvSpPr>
            <a:spLocks noGrp="1"/>
          </p:cNvSpPr>
          <p:nvPr>
            <p:ph type="sldNum" sz="quarter" idx="12"/>
          </p:nvPr>
        </p:nvSpPr>
        <p:spPr/>
        <p:txBody>
          <a:bodyPr/>
          <a:lstStyle/>
          <a:p>
            <a:fld id="{B53C4E5F-83B1-4229-8D1F-43177BB0998D}" type="slidenum">
              <a:rPr lang="en-IN" smtClean="0"/>
              <a:t>‹#›</a:t>
            </a:fld>
            <a:endParaRPr lang="en-IN"/>
          </a:p>
        </p:txBody>
      </p:sp>
    </p:spTree>
    <p:extLst>
      <p:ext uri="{BB962C8B-B14F-4D97-AF65-F5344CB8AC3E}">
        <p14:creationId xmlns:p14="http://schemas.microsoft.com/office/powerpoint/2010/main" val="2324835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D90D3-04AC-E008-0FA6-2777D0CD808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8906F1A-5B5A-5DA1-BF97-0110045F5D2B}"/>
              </a:ext>
            </a:extLst>
          </p:cNvPr>
          <p:cNvSpPr>
            <a:spLocks noGrp="1"/>
          </p:cNvSpPr>
          <p:nvPr>
            <p:ph type="dt" sz="half" idx="10"/>
          </p:nvPr>
        </p:nvSpPr>
        <p:spPr/>
        <p:txBody>
          <a:bodyPr/>
          <a:lstStyle/>
          <a:p>
            <a:fld id="{A094E200-6372-4DAE-AC23-5F820719FCD5}" type="datetimeFigureOut">
              <a:rPr lang="en-IN" smtClean="0"/>
              <a:t>23-03-2026</a:t>
            </a:fld>
            <a:endParaRPr lang="en-IN"/>
          </a:p>
        </p:txBody>
      </p:sp>
      <p:sp>
        <p:nvSpPr>
          <p:cNvPr id="4" name="Footer Placeholder 3">
            <a:extLst>
              <a:ext uri="{FF2B5EF4-FFF2-40B4-BE49-F238E27FC236}">
                <a16:creationId xmlns:a16="http://schemas.microsoft.com/office/drawing/2014/main" id="{A7D37AE7-31D8-4780-D53C-204417949AA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73052EF-2736-7FBC-9A39-7A91E704B073}"/>
              </a:ext>
            </a:extLst>
          </p:cNvPr>
          <p:cNvSpPr>
            <a:spLocks noGrp="1"/>
          </p:cNvSpPr>
          <p:nvPr>
            <p:ph type="sldNum" sz="quarter" idx="12"/>
          </p:nvPr>
        </p:nvSpPr>
        <p:spPr/>
        <p:txBody>
          <a:bodyPr/>
          <a:lstStyle/>
          <a:p>
            <a:fld id="{B53C4E5F-83B1-4229-8D1F-43177BB0998D}" type="slidenum">
              <a:rPr lang="en-IN" smtClean="0"/>
              <a:t>‹#›</a:t>
            </a:fld>
            <a:endParaRPr lang="en-IN"/>
          </a:p>
        </p:txBody>
      </p:sp>
    </p:spTree>
    <p:extLst>
      <p:ext uri="{BB962C8B-B14F-4D97-AF65-F5344CB8AC3E}">
        <p14:creationId xmlns:p14="http://schemas.microsoft.com/office/powerpoint/2010/main" val="2961106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50B3EF-DA81-5595-45FA-0D06C9E92AAC}"/>
              </a:ext>
            </a:extLst>
          </p:cNvPr>
          <p:cNvSpPr>
            <a:spLocks noGrp="1"/>
          </p:cNvSpPr>
          <p:nvPr>
            <p:ph type="dt" sz="half" idx="10"/>
          </p:nvPr>
        </p:nvSpPr>
        <p:spPr/>
        <p:txBody>
          <a:bodyPr/>
          <a:lstStyle/>
          <a:p>
            <a:fld id="{A094E200-6372-4DAE-AC23-5F820719FCD5}" type="datetimeFigureOut">
              <a:rPr lang="en-IN" smtClean="0"/>
              <a:t>23-03-2026</a:t>
            </a:fld>
            <a:endParaRPr lang="en-IN"/>
          </a:p>
        </p:txBody>
      </p:sp>
      <p:sp>
        <p:nvSpPr>
          <p:cNvPr id="3" name="Footer Placeholder 2">
            <a:extLst>
              <a:ext uri="{FF2B5EF4-FFF2-40B4-BE49-F238E27FC236}">
                <a16:creationId xmlns:a16="http://schemas.microsoft.com/office/drawing/2014/main" id="{31CB01E1-B54F-B368-2A0D-761D7BFDCFA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CCA0960-A880-D5EE-2762-8FAEE93F8E6F}"/>
              </a:ext>
            </a:extLst>
          </p:cNvPr>
          <p:cNvSpPr>
            <a:spLocks noGrp="1"/>
          </p:cNvSpPr>
          <p:nvPr>
            <p:ph type="sldNum" sz="quarter" idx="12"/>
          </p:nvPr>
        </p:nvSpPr>
        <p:spPr/>
        <p:txBody>
          <a:bodyPr/>
          <a:lstStyle/>
          <a:p>
            <a:fld id="{B53C4E5F-83B1-4229-8D1F-43177BB0998D}" type="slidenum">
              <a:rPr lang="en-IN" smtClean="0"/>
              <a:t>‹#›</a:t>
            </a:fld>
            <a:endParaRPr lang="en-IN"/>
          </a:p>
        </p:txBody>
      </p:sp>
    </p:spTree>
    <p:extLst>
      <p:ext uri="{BB962C8B-B14F-4D97-AF65-F5344CB8AC3E}">
        <p14:creationId xmlns:p14="http://schemas.microsoft.com/office/powerpoint/2010/main" val="249351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FC12-1867-6AF1-4E18-96D479BEF0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3743381-BBD7-3EA3-64DE-CA041B91F6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8EF3F1A-B464-3892-7C9F-CA50C31655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B20CD0-26BE-470D-F0DA-F6F98EF6D01C}"/>
              </a:ext>
            </a:extLst>
          </p:cNvPr>
          <p:cNvSpPr>
            <a:spLocks noGrp="1"/>
          </p:cNvSpPr>
          <p:nvPr>
            <p:ph type="dt" sz="half" idx="10"/>
          </p:nvPr>
        </p:nvSpPr>
        <p:spPr/>
        <p:txBody>
          <a:bodyPr/>
          <a:lstStyle/>
          <a:p>
            <a:fld id="{A094E200-6372-4DAE-AC23-5F820719FCD5}" type="datetimeFigureOut">
              <a:rPr lang="en-IN" smtClean="0"/>
              <a:t>23-03-2026</a:t>
            </a:fld>
            <a:endParaRPr lang="en-IN"/>
          </a:p>
        </p:txBody>
      </p:sp>
      <p:sp>
        <p:nvSpPr>
          <p:cNvPr id="6" name="Footer Placeholder 5">
            <a:extLst>
              <a:ext uri="{FF2B5EF4-FFF2-40B4-BE49-F238E27FC236}">
                <a16:creationId xmlns:a16="http://schemas.microsoft.com/office/drawing/2014/main" id="{D985D33C-0934-1FA0-313C-F1DC4B89B4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BA16CC-96AE-AAAC-02C4-987C1BB44DA7}"/>
              </a:ext>
            </a:extLst>
          </p:cNvPr>
          <p:cNvSpPr>
            <a:spLocks noGrp="1"/>
          </p:cNvSpPr>
          <p:nvPr>
            <p:ph type="sldNum" sz="quarter" idx="12"/>
          </p:nvPr>
        </p:nvSpPr>
        <p:spPr/>
        <p:txBody>
          <a:bodyPr/>
          <a:lstStyle/>
          <a:p>
            <a:fld id="{B53C4E5F-83B1-4229-8D1F-43177BB0998D}" type="slidenum">
              <a:rPr lang="en-IN" smtClean="0"/>
              <a:t>‹#›</a:t>
            </a:fld>
            <a:endParaRPr lang="en-IN"/>
          </a:p>
        </p:txBody>
      </p:sp>
    </p:spTree>
    <p:extLst>
      <p:ext uri="{BB962C8B-B14F-4D97-AF65-F5344CB8AC3E}">
        <p14:creationId xmlns:p14="http://schemas.microsoft.com/office/powerpoint/2010/main" val="424332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53709-C2D7-8F82-25BE-6EDFA90A56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49C3061-A134-B8AB-3380-866CEE0C3A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D6BBB5B-B63E-E7B2-5C03-B64227E789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293012-3FC6-7F00-F265-13752BE64B86}"/>
              </a:ext>
            </a:extLst>
          </p:cNvPr>
          <p:cNvSpPr>
            <a:spLocks noGrp="1"/>
          </p:cNvSpPr>
          <p:nvPr>
            <p:ph type="dt" sz="half" idx="10"/>
          </p:nvPr>
        </p:nvSpPr>
        <p:spPr/>
        <p:txBody>
          <a:bodyPr/>
          <a:lstStyle/>
          <a:p>
            <a:fld id="{A094E200-6372-4DAE-AC23-5F820719FCD5}" type="datetimeFigureOut">
              <a:rPr lang="en-IN" smtClean="0"/>
              <a:t>23-03-2026</a:t>
            </a:fld>
            <a:endParaRPr lang="en-IN"/>
          </a:p>
        </p:txBody>
      </p:sp>
      <p:sp>
        <p:nvSpPr>
          <p:cNvPr id="6" name="Footer Placeholder 5">
            <a:extLst>
              <a:ext uri="{FF2B5EF4-FFF2-40B4-BE49-F238E27FC236}">
                <a16:creationId xmlns:a16="http://schemas.microsoft.com/office/drawing/2014/main" id="{2402CCE2-7A3A-0B00-765D-9954C23B0A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725AAB2-07FD-C0A6-2E78-360DD0AC66F2}"/>
              </a:ext>
            </a:extLst>
          </p:cNvPr>
          <p:cNvSpPr>
            <a:spLocks noGrp="1"/>
          </p:cNvSpPr>
          <p:nvPr>
            <p:ph type="sldNum" sz="quarter" idx="12"/>
          </p:nvPr>
        </p:nvSpPr>
        <p:spPr/>
        <p:txBody>
          <a:bodyPr/>
          <a:lstStyle/>
          <a:p>
            <a:fld id="{B53C4E5F-83B1-4229-8D1F-43177BB0998D}" type="slidenum">
              <a:rPr lang="en-IN" smtClean="0"/>
              <a:t>‹#›</a:t>
            </a:fld>
            <a:endParaRPr lang="en-IN"/>
          </a:p>
        </p:txBody>
      </p:sp>
    </p:spTree>
    <p:extLst>
      <p:ext uri="{BB962C8B-B14F-4D97-AF65-F5344CB8AC3E}">
        <p14:creationId xmlns:p14="http://schemas.microsoft.com/office/powerpoint/2010/main" val="2737134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EC085-3886-742C-E1F4-FC7B39B4C06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7A7252-05FF-F59F-2748-6F6FAEC979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F411FB-AA60-976C-9750-6F64FA095378}"/>
              </a:ext>
            </a:extLst>
          </p:cNvPr>
          <p:cNvSpPr>
            <a:spLocks noGrp="1"/>
          </p:cNvSpPr>
          <p:nvPr>
            <p:ph type="dt" sz="half" idx="10"/>
          </p:nvPr>
        </p:nvSpPr>
        <p:spPr/>
        <p:txBody>
          <a:bodyPr/>
          <a:lstStyle/>
          <a:p>
            <a:fld id="{A094E200-6372-4DAE-AC23-5F820719FCD5}" type="datetimeFigureOut">
              <a:rPr lang="en-IN" smtClean="0"/>
              <a:t>23-03-2026</a:t>
            </a:fld>
            <a:endParaRPr lang="en-IN"/>
          </a:p>
        </p:txBody>
      </p:sp>
      <p:sp>
        <p:nvSpPr>
          <p:cNvPr id="5" name="Footer Placeholder 4">
            <a:extLst>
              <a:ext uri="{FF2B5EF4-FFF2-40B4-BE49-F238E27FC236}">
                <a16:creationId xmlns:a16="http://schemas.microsoft.com/office/drawing/2014/main" id="{11651AC6-E2A4-D667-C7CD-471DB9AD5D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94AF0A-EB13-3D24-9527-A4A527C6876C}"/>
              </a:ext>
            </a:extLst>
          </p:cNvPr>
          <p:cNvSpPr>
            <a:spLocks noGrp="1"/>
          </p:cNvSpPr>
          <p:nvPr>
            <p:ph type="sldNum" sz="quarter" idx="12"/>
          </p:nvPr>
        </p:nvSpPr>
        <p:spPr/>
        <p:txBody>
          <a:bodyPr/>
          <a:lstStyle/>
          <a:p>
            <a:fld id="{B53C4E5F-83B1-4229-8D1F-43177BB0998D}" type="slidenum">
              <a:rPr lang="en-IN" smtClean="0"/>
              <a:t>‹#›</a:t>
            </a:fld>
            <a:endParaRPr lang="en-IN"/>
          </a:p>
        </p:txBody>
      </p:sp>
    </p:spTree>
    <p:extLst>
      <p:ext uri="{BB962C8B-B14F-4D97-AF65-F5344CB8AC3E}">
        <p14:creationId xmlns:p14="http://schemas.microsoft.com/office/powerpoint/2010/main" val="4107060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6C6691-7BE3-06A0-0116-0D6FA7159C7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ADEBC3-9B60-B63C-689C-D8A68479CA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73A1B4-3686-F216-BC48-F8C85EFC414C}"/>
              </a:ext>
            </a:extLst>
          </p:cNvPr>
          <p:cNvSpPr>
            <a:spLocks noGrp="1"/>
          </p:cNvSpPr>
          <p:nvPr>
            <p:ph type="dt" sz="half" idx="10"/>
          </p:nvPr>
        </p:nvSpPr>
        <p:spPr/>
        <p:txBody>
          <a:bodyPr/>
          <a:lstStyle/>
          <a:p>
            <a:fld id="{A094E200-6372-4DAE-AC23-5F820719FCD5}" type="datetimeFigureOut">
              <a:rPr lang="en-IN" smtClean="0"/>
              <a:t>23-03-2026</a:t>
            </a:fld>
            <a:endParaRPr lang="en-IN"/>
          </a:p>
        </p:txBody>
      </p:sp>
      <p:sp>
        <p:nvSpPr>
          <p:cNvPr id="5" name="Footer Placeholder 4">
            <a:extLst>
              <a:ext uri="{FF2B5EF4-FFF2-40B4-BE49-F238E27FC236}">
                <a16:creationId xmlns:a16="http://schemas.microsoft.com/office/drawing/2014/main" id="{5DC10C71-B8B6-FC54-E04F-CC05504EC6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3924BAD-CEA3-FCF8-E952-70F5A6F8D054}"/>
              </a:ext>
            </a:extLst>
          </p:cNvPr>
          <p:cNvSpPr>
            <a:spLocks noGrp="1"/>
          </p:cNvSpPr>
          <p:nvPr>
            <p:ph type="sldNum" sz="quarter" idx="12"/>
          </p:nvPr>
        </p:nvSpPr>
        <p:spPr/>
        <p:txBody>
          <a:bodyPr/>
          <a:lstStyle/>
          <a:p>
            <a:fld id="{B53C4E5F-83B1-4229-8D1F-43177BB0998D}" type="slidenum">
              <a:rPr lang="en-IN" smtClean="0"/>
              <a:t>‹#›</a:t>
            </a:fld>
            <a:endParaRPr lang="en-IN"/>
          </a:p>
        </p:txBody>
      </p:sp>
    </p:spTree>
    <p:extLst>
      <p:ext uri="{BB962C8B-B14F-4D97-AF65-F5344CB8AC3E}">
        <p14:creationId xmlns:p14="http://schemas.microsoft.com/office/powerpoint/2010/main" val="2198390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6D82E3-1386-448B-3898-BDA0362E40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795C6D9-0AE7-1CD1-B71B-F3C23F84660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BFF6C3-91FD-2581-B768-4AD0C15126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94E200-6372-4DAE-AC23-5F820719FCD5}" type="datetimeFigureOut">
              <a:rPr lang="en-IN" smtClean="0"/>
              <a:t>23-03-2026</a:t>
            </a:fld>
            <a:endParaRPr lang="en-IN"/>
          </a:p>
        </p:txBody>
      </p:sp>
      <p:sp>
        <p:nvSpPr>
          <p:cNvPr id="5" name="Footer Placeholder 4">
            <a:extLst>
              <a:ext uri="{FF2B5EF4-FFF2-40B4-BE49-F238E27FC236}">
                <a16:creationId xmlns:a16="http://schemas.microsoft.com/office/drawing/2014/main" id="{063A7EF4-7266-80CD-4D53-34560D202C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29FB947-8893-6319-A675-D03B75606E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3C4E5F-83B1-4229-8D1F-43177BB0998D}" type="slidenum">
              <a:rPr lang="en-IN" smtClean="0"/>
              <a:t>‹#›</a:t>
            </a:fld>
            <a:endParaRPr lang="en-IN"/>
          </a:p>
        </p:txBody>
      </p:sp>
    </p:spTree>
    <p:extLst>
      <p:ext uri="{BB962C8B-B14F-4D97-AF65-F5344CB8AC3E}">
        <p14:creationId xmlns:p14="http://schemas.microsoft.com/office/powerpoint/2010/main" val="3687045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35;p1">
            <a:extLst>
              <a:ext uri="{FF2B5EF4-FFF2-40B4-BE49-F238E27FC236}">
                <a16:creationId xmlns:a16="http://schemas.microsoft.com/office/drawing/2014/main" id="{C4F94C92-6BF8-7881-E7AE-F22E3A3F0EBD}"/>
              </a:ext>
            </a:extLst>
          </p:cNvPr>
          <p:cNvSpPr txBox="1"/>
          <p:nvPr/>
        </p:nvSpPr>
        <p:spPr>
          <a:xfrm>
            <a:off x="619301" y="1431568"/>
            <a:ext cx="10696612" cy="1944216"/>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lnSpc>
                <a:spcPct val="90000"/>
              </a:lnSpc>
              <a:spcBef>
                <a:spcPts val="0"/>
              </a:spcBef>
              <a:spcAft>
                <a:spcPts val="0"/>
              </a:spcAft>
              <a:buNone/>
            </a:pPr>
            <a:endParaRPr sz="4000" b="0" i="0" u="none" strike="noStrike" cap="none">
              <a:solidFill>
                <a:srgbClr val="00B05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 name="Google Shape;36;p1">
            <a:extLst>
              <a:ext uri="{FF2B5EF4-FFF2-40B4-BE49-F238E27FC236}">
                <a16:creationId xmlns:a16="http://schemas.microsoft.com/office/drawing/2014/main" id="{C99BEE9B-BF85-040C-C4CE-DE21E7A75B0F}"/>
              </a:ext>
            </a:extLst>
          </p:cNvPr>
          <p:cNvSpPr txBox="1"/>
          <p:nvPr/>
        </p:nvSpPr>
        <p:spPr>
          <a:xfrm>
            <a:off x="3038582" y="269241"/>
            <a:ext cx="5182492" cy="1466558"/>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lnSpc>
                <a:spcPct val="90000"/>
              </a:lnSpc>
              <a:spcBef>
                <a:spcPts val="0"/>
              </a:spcBef>
              <a:spcAft>
                <a:spcPts val="0"/>
              </a:spcAft>
              <a:buNone/>
            </a:pPr>
            <a:r>
              <a:rPr lang="en-US" sz="2800" b="1" i="0" u="none" strike="noStrike" cap="none" dirty="0">
                <a:solidFill>
                  <a:srgbClr val="0000FF"/>
                </a:solidFill>
                <a:latin typeface="Times New Roman" panose="02020603050405020304"/>
                <a:ea typeface="Times New Roman" panose="02020603050405020304"/>
                <a:cs typeface="Times New Roman" panose="02020603050405020304"/>
                <a:sym typeface="Times New Roman" panose="02020603050405020304"/>
              </a:rPr>
              <a:t>Final Project Review</a:t>
            </a:r>
            <a:endParaRPr sz="2800" dirty="0"/>
          </a:p>
        </p:txBody>
      </p:sp>
      <p:sp>
        <p:nvSpPr>
          <p:cNvPr id="7" name="Google Shape;37;p1">
            <a:extLst>
              <a:ext uri="{FF2B5EF4-FFF2-40B4-BE49-F238E27FC236}">
                <a16:creationId xmlns:a16="http://schemas.microsoft.com/office/drawing/2014/main" id="{15BBE7FF-8AF5-A2BF-EBD0-873EE1341FAA}"/>
              </a:ext>
            </a:extLst>
          </p:cNvPr>
          <p:cNvSpPr/>
          <p:nvPr/>
        </p:nvSpPr>
        <p:spPr>
          <a:xfrm>
            <a:off x="129832" y="3184591"/>
            <a:ext cx="4965496" cy="260836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lvl="0">
              <a:lnSpc>
                <a:spcPct val="150000"/>
              </a:lnSpc>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Presented by:</a:t>
            </a:r>
            <a:r>
              <a:rPr lang="en-US" sz="18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  </a:t>
            </a:r>
            <a:endParaRPr lang="en-US" sz="1800" dirty="0">
              <a:latin typeface="Times New Roman" panose="02020603050405020304" pitchFamily="18" charset="0"/>
              <a:cs typeface="Times New Roman" panose="02020603050405020304" pitchFamily="18" charset="0"/>
            </a:endParaRPr>
          </a:p>
          <a:p>
            <a:pPr marL="285750" indent="-285750">
              <a:lnSpc>
                <a:spcPct val="150000"/>
              </a:lnSpc>
              <a:buClr>
                <a:schemeClr val="dk1"/>
              </a:buClr>
              <a:buSzPts val="1800"/>
              <a:buFont typeface="Arial" panose="020B0604020202020204"/>
              <a:buChar char="•"/>
            </a:pPr>
            <a:r>
              <a:rPr lang="en-US" sz="1900" dirty="0">
                <a:latin typeface="Times New Roman" panose="02020603050405020304" pitchFamily="18" charset="0"/>
                <a:cs typeface="Times New Roman" panose="02020603050405020304" pitchFamily="18" charset="0"/>
              </a:rPr>
              <a:t>24B11AI159    - K. Keerthi Reddy -  AIML</a:t>
            </a:r>
          </a:p>
          <a:p>
            <a:pPr marL="285750" indent="-285750">
              <a:lnSpc>
                <a:spcPct val="150000"/>
              </a:lnSpc>
              <a:buClr>
                <a:schemeClr val="dk1"/>
              </a:buClr>
              <a:buSzPts val="1800"/>
              <a:buFont typeface="Arial" panose="020B0604020202020204"/>
              <a:buChar char="•"/>
            </a:pPr>
            <a:r>
              <a:rPr lang="en-US" sz="1900" dirty="0">
                <a:latin typeface="Times New Roman" panose="02020603050405020304" pitchFamily="18" charset="0"/>
                <a:ea typeface="Glegoo"/>
                <a:cs typeface="Times New Roman" panose="02020603050405020304" pitchFamily="18" charset="0"/>
                <a:sym typeface="Glegoo"/>
              </a:rPr>
              <a:t>25B21AI020  -  P. Gayathri - AIML</a:t>
            </a:r>
            <a:endParaRPr lang="en-US" sz="1900" dirty="0">
              <a:latin typeface="Times New Roman" panose="02020603050405020304" pitchFamily="18" charset="0"/>
              <a:cs typeface="Times New Roman" panose="02020603050405020304" pitchFamily="18" charset="0"/>
            </a:endParaRPr>
          </a:p>
          <a:p>
            <a:pPr lvl="0">
              <a:lnSpc>
                <a:spcPct val="150000"/>
              </a:lnSpc>
              <a:buClr>
                <a:schemeClr val="dk1"/>
              </a:buClr>
              <a:buSzPts val="1800"/>
            </a:pPr>
            <a:endParaRPr lang="en-US" sz="1900" dirty="0">
              <a:latin typeface="Times New Roman" panose="02020603050405020304" pitchFamily="18" charset="0"/>
              <a:cs typeface="Times New Roman" panose="02020603050405020304" pitchFamily="18" charset="0"/>
            </a:endParaRPr>
          </a:p>
          <a:p>
            <a:pPr marL="285750" lvl="0" indent="-171450">
              <a:lnSpc>
                <a:spcPct val="150000"/>
              </a:lnSpc>
              <a:buClr>
                <a:schemeClr val="dk1"/>
              </a:buClr>
              <a:buSzPts val="1800"/>
            </a:pPr>
            <a:endParaRPr lang="en-US" sz="1600"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a:p>
            <a:pPr marL="285750" marR="0" lvl="0" indent="-171450" algn="l" rtl="0">
              <a:lnSpc>
                <a:spcPct val="150000"/>
              </a:lnSpc>
              <a:spcBef>
                <a:spcPts val="0"/>
              </a:spcBef>
              <a:spcAft>
                <a:spcPts val="0"/>
              </a:spcAft>
              <a:buClr>
                <a:schemeClr val="dk1"/>
              </a:buClr>
              <a:buSzPts val="1800"/>
              <a:buFont typeface="Arial" panose="020B0604020202020204"/>
              <a:buNone/>
            </a:pPr>
            <a:endParaRPr sz="1800" b="0"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 name="Google Shape;38;p1">
            <a:extLst>
              <a:ext uri="{FF2B5EF4-FFF2-40B4-BE49-F238E27FC236}">
                <a16:creationId xmlns:a16="http://schemas.microsoft.com/office/drawing/2014/main" id="{611E7BB9-ED5B-76BF-05EA-F7AC227B993F}"/>
              </a:ext>
            </a:extLst>
          </p:cNvPr>
          <p:cNvSpPr txBox="1"/>
          <p:nvPr/>
        </p:nvSpPr>
        <p:spPr>
          <a:xfrm>
            <a:off x="675118" y="1911331"/>
            <a:ext cx="9909420" cy="699135"/>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lvl="0" algn="ctr"/>
            <a:r>
              <a:rPr lang="en-US" sz="3200" b="1" dirty="0"/>
              <a:t> Customer Segmentation</a:t>
            </a:r>
            <a:endParaRPr lang="en-US" sz="3000" b="1" i="0" u="none" strike="noStrike" cap="none" dirty="0">
              <a:solidFill>
                <a:srgbClr val="00B05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9" name="Google Shape;39;p1">
            <a:extLst>
              <a:ext uri="{FF2B5EF4-FFF2-40B4-BE49-F238E27FC236}">
                <a16:creationId xmlns:a16="http://schemas.microsoft.com/office/drawing/2014/main" id="{7C78FBAB-B8E6-989A-5C10-7471F3076869}"/>
              </a:ext>
            </a:extLst>
          </p:cNvPr>
          <p:cNvSpPr/>
          <p:nvPr/>
        </p:nvSpPr>
        <p:spPr>
          <a:xfrm>
            <a:off x="3197596" y="4834474"/>
            <a:ext cx="3795464" cy="1754286"/>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lvl="0" algn="ctr">
              <a:lnSpc>
                <a:spcPct val="150000"/>
              </a:lnSpc>
            </a:pPr>
            <a:r>
              <a:rPr lang="en-US" sz="1800" b="1" dirty="0">
                <a:solidFill>
                  <a:schemeClr val="dk1"/>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rPr>
              <a:t>Under esteemed guidance of:</a:t>
            </a:r>
            <a:endParaRPr lang="en-US" sz="1800" dirty="0">
              <a:latin typeface="Times New Roman" panose="02020603050405020304" pitchFamily="18" charset="0"/>
              <a:cs typeface="Times New Roman" panose="02020603050405020304" pitchFamily="18" charset="0"/>
            </a:endParaRPr>
          </a:p>
          <a:p>
            <a:pPr algn="ctr"/>
            <a:r>
              <a:rPr lang="en-US" sz="1800" noProof="1">
                <a:latin typeface="Times New Roman" panose="02020603050405020304" pitchFamily="18" charset="0"/>
                <a:cs typeface="Times New Roman" panose="02020603050405020304" pitchFamily="18" charset="0"/>
              </a:rPr>
              <a:t>Mr. D. Priyanth</a:t>
            </a:r>
          </a:p>
          <a:p>
            <a:pPr algn="ctr"/>
            <a:r>
              <a:rPr lang="en-US" sz="1800" noProof="1">
                <a:latin typeface="Times New Roman" panose="02020603050405020304" pitchFamily="18" charset="0"/>
                <a:cs typeface="Times New Roman" panose="02020603050405020304" pitchFamily="18" charset="0"/>
              </a:rPr>
              <a:t>M.Tech</a:t>
            </a:r>
            <a:r>
              <a:rPr lang="en-US" sz="1800" dirty="0">
                <a:latin typeface="Times New Roman" panose="02020603050405020304" pitchFamily="18" charset="0"/>
                <a:cs typeface="Times New Roman" panose="02020603050405020304" pitchFamily="18" charset="0"/>
              </a:rPr>
              <a:t>, Assistant Professor (AIML) </a:t>
            </a:r>
          </a:p>
          <a:p>
            <a:pPr lvl="0" algn="ctr"/>
            <a:endParaRPr lang="en-US" sz="1800" dirty="0">
              <a:latin typeface="Times New Roman" panose="02020603050405020304" pitchFamily="18" charset="0"/>
              <a:cs typeface="Times New Roman" panose="02020603050405020304" pitchFamily="18" charset="0"/>
            </a:endParaRPr>
          </a:p>
          <a:p>
            <a:pPr marL="0" marR="0" lvl="0" indent="0" algn="ctr" rtl="0">
              <a:lnSpc>
                <a:spcPct val="150000"/>
              </a:lnSpc>
              <a:spcBef>
                <a:spcPts val="0"/>
              </a:spcBef>
              <a:spcAft>
                <a:spcPts val="0"/>
              </a:spcAft>
              <a:buNone/>
            </a:pPr>
            <a:endParaRPr sz="18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 name="Google Shape;40;p1">
            <a:extLst>
              <a:ext uri="{FF2B5EF4-FFF2-40B4-BE49-F238E27FC236}">
                <a16:creationId xmlns:a16="http://schemas.microsoft.com/office/drawing/2014/main" id="{B779E4DF-5A89-C471-6BF5-F0A4E5A36C77}"/>
              </a:ext>
            </a:extLst>
          </p:cNvPr>
          <p:cNvSpPr txBox="1"/>
          <p:nvPr/>
        </p:nvSpPr>
        <p:spPr>
          <a:xfrm>
            <a:off x="2612580" y="2815259"/>
            <a:ext cx="6094562" cy="523180"/>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0" marR="0" lvl="0" indent="0" algn="ctr" rtl="0">
              <a:spcBef>
                <a:spcPts val="0"/>
              </a:spcBef>
              <a:spcAft>
                <a:spcPts val="0"/>
              </a:spcAft>
              <a:buNone/>
            </a:pPr>
            <a:r>
              <a:rPr lang="en-US" sz="2800" b="1" dirty="0">
                <a:solidFill>
                  <a:srgbClr val="C55A11"/>
                </a:solidFill>
                <a:latin typeface="Times New Roman" panose="02020603050405020304"/>
                <a:ea typeface="Times New Roman" panose="02020603050405020304"/>
                <a:cs typeface="Times New Roman" panose="02020603050405020304"/>
                <a:sym typeface="Times New Roman" panose="02020603050405020304"/>
              </a:rPr>
              <a:t>BATCH NUMBER: 02</a:t>
            </a:r>
            <a:endParaRPr sz="2800" dirty="0"/>
          </a:p>
        </p:txBody>
      </p:sp>
      <p:sp>
        <p:nvSpPr>
          <p:cNvPr id="11" name="TextBox 2">
            <a:extLst>
              <a:ext uri="{FF2B5EF4-FFF2-40B4-BE49-F238E27FC236}">
                <a16:creationId xmlns:a16="http://schemas.microsoft.com/office/drawing/2014/main" id="{E4CAD368-F380-1E88-9C33-1BD8FD43FB6E}"/>
              </a:ext>
            </a:extLst>
          </p:cNvPr>
          <p:cNvSpPr txBox="1"/>
          <p:nvPr/>
        </p:nvSpPr>
        <p:spPr>
          <a:xfrm>
            <a:off x="5967607" y="3580577"/>
            <a:ext cx="6094562" cy="458074"/>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marL="285750" indent="-285750">
              <a:lnSpc>
                <a:spcPct val="150000"/>
              </a:lnSpc>
              <a:buClr>
                <a:schemeClr val="dk1"/>
              </a:buClr>
              <a:buSzPts val="1800"/>
              <a:buFont typeface="Arial" panose="020B0604020202020204"/>
              <a:buChar char="•"/>
            </a:pPr>
            <a:r>
              <a:rPr lang="en-US" sz="1800" dirty="0">
                <a:latin typeface="Times New Roman" panose="02020603050405020304" pitchFamily="18" charset="0"/>
                <a:cs typeface="Times New Roman" panose="02020603050405020304" pitchFamily="18" charset="0"/>
              </a:rPr>
              <a:t>24B11AI154    - K. Rishi Sahithi -  AIML</a:t>
            </a:r>
          </a:p>
        </p:txBody>
      </p:sp>
    </p:spTree>
    <p:extLst>
      <p:ext uri="{BB962C8B-B14F-4D97-AF65-F5344CB8AC3E}">
        <p14:creationId xmlns:p14="http://schemas.microsoft.com/office/powerpoint/2010/main" val="1586689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a:extLst>
              <a:ext uri="{FF2B5EF4-FFF2-40B4-BE49-F238E27FC236}">
                <a16:creationId xmlns:a16="http://schemas.microsoft.com/office/drawing/2014/main" id="{EDB8AAD4-5E45-C54C-9507-B114F8353E08}"/>
              </a:ext>
            </a:extLst>
          </p:cNvPr>
          <p:cNvPicPr/>
          <p:nvPr/>
        </p:nvPicPr>
        <p:blipFill>
          <a:blip r:embed="rId2" cstate="print"/>
          <a:stretch>
            <a:fillRect/>
          </a:stretch>
        </p:blipFill>
        <p:spPr>
          <a:xfrm>
            <a:off x="290750" y="204311"/>
            <a:ext cx="1163002" cy="424338"/>
          </a:xfrm>
          <a:prstGeom prst="rect">
            <a:avLst/>
          </a:prstGeom>
        </p:spPr>
      </p:pic>
      <p:sp>
        <p:nvSpPr>
          <p:cNvPr id="4" name="TextBox 3">
            <a:extLst>
              <a:ext uri="{FF2B5EF4-FFF2-40B4-BE49-F238E27FC236}">
                <a16:creationId xmlns:a16="http://schemas.microsoft.com/office/drawing/2014/main" id="{A66CABF1-5515-E65B-8120-341570EF4EBE}"/>
              </a:ext>
            </a:extLst>
          </p:cNvPr>
          <p:cNvSpPr txBox="1"/>
          <p:nvPr/>
        </p:nvSpPr>
        <p:spPr>
          <a:xfrm>
            <a:off x="872251" y="1169700"/>
            <a:ext cx="11319641" cy="3447098"/>
          </a:xfrm>
          <a:prstGeom prst="rect">
            <a:avLst/>
          </a:prstGeom>
          <a:noFill/>
        </p:spPr>
        <p:txBody>
          <a:bodyPr wrap="square" rtlCol="0">
            <a:spAutoFit/>
          </a:bodyPr>
          <a:lstStyle/>
          <a:p>
            <a:pPr marL="114300" indent="0">
              <a:buNone/>
            </a:pPr>
            <a:r>
              <a:rPr lang="en-IN" sz="2000" b="1" dirty="0">
                <a:latin typeface="Times New Roman" panose="02020603050405020304" pitchFamily="18" charset="0"/>
                <a:cs typeface="Times New Roman" panose="02020603050405020304" pitchFamily="18" charset="0"/>
              </a:rPr>
              <a:t>Outline </a:t>
            </a:r>
          </a:p>
          <a:p>
            <a:pPr marL="114300" indent="0">
              <a:buNone/>
            </a:pPr>
            <a:r>
              <a:rPr lang="en-IN" dirty="0">
                <a:latin typeface="Times New Roman" panose="02020603050405020304" pitchFamily="18" charset="0"/>
                <a:cs typeface="Times New Roman" panose="02020603050405020304" pitchFamily="18" charset="0"/>
              </a:rPr>
              <a:t>1.Problem formulation</a:t>
            </a:r>
          </a:p>
          <a:p>
            <a:pPr marL="114300" indent="0">
              <a:buNone/>
            </a:pPr>
            <a:r>
              <a:rPr lang="en-IN" dirty="0">
                <a:latin typeface="Times New Roman" panose="02020603050405020304" pitchFamily="18" charset="0"/>
                <a:cs typeface="Times New Roman" panose="02020603050405020304" pitchFamily="18" charset="0"/>
              </a:rPr>
              <a:t>2.Problem Definition</a:t>
            </a:r>
          </a:p>
          <a:p>
            <a:pPr marL="114300" indent="0">
              <a:buNone/>
            </a:pPr>
            <a:r>
              <a:rPr lang="en-IN" dirty="0">
                <a:latin typeface="Times New Roman" panose="02020603050405020304" pitchFamily="18" charset="0"/>
                <a:cs typeface="Times New Roman" panose="02020603050405020304" pitchFamily="18" charset="0"/>
              </a:rPr>
              <a:t>3.Literature review</a:t>
            </a:r>
          </a:p>
          <a:p>
            <a:pPr marL="114300" indent="0">
              <a:buNone/>
            </a:pPr>
            <a:r>
              <a:rPr lang="en-IN" dirty="0">
                <a:latin typeface="Times New Roman" panose="02020603050405020304" pitchFamily="18" charset="0"/>
                <a:cs typeface="Times New Roman" panose="02020603050405020304" pitchFamily="18" charset="0"/>
              </a:rPr>
              <a:t>4.Research Gaps</a:t>
            </a:r>
          </a:p>
          <a:p>
            <a:pPr marL="114300" indent="0">
              <a:buNone/>
            </a:pPr>
            <a:r>
              <a:rPr lang="en-IN" dirty="0">
                <a:latin typeface="Times New Roman" panose="02020603050405020304" pitchFamily="18" charset="0"/>
                <a:cs typeface="Times New Roman" panose="02020603050405020304" pitchFamily="18" charset="0"/>
              </a:rPr>
              <a:t>5.Objectives </a:t>
            </a:r>
          </a:p>
          <a:p>
            <a:pPr marL="114300" indent="0">
              <a:buNone/>
            </a:pPr>
            <a:r>
              <a:rPr lang="en-IN" dirty="0">
                <a:latin typeface="Times New Roman" panose="02020603050405020304" pitchFamily="18" charset="0"/>
                <a:cs typeface="Times New Roman" panose="02020603050405020304" pitchFamily="18" charset="0"/>
              </a:rPr>
              <a:t>6.Methodology </a:t>
            </a:r>
          </a:p>
          <a:p>
            <a:pPr marL="114300" indent="0">
              <a:buNone/>
            </a:pPr>
            <a:r>
              <a:rPr lang="en-IN" dirty="0">
                <a:latin typeface="Times New Roman" panose="02020603050405020304" pitchFamily="18" charset="0"/>
                <a:cs typeface="Times New Roman" panose="02020603050405020304" pitchFamily="18" charset="0"/>
              </a:rPr>
              <a:t>7.Technological requirements </a:t>
            </a:r>
          </a:p>
          <a:p>
            <a:pPr marL="114300" indent="0">
              <a:buNone/>
            </a:pPr>
            <a:r>
              <a:rPr lang="en-IN" dirty="0">
                <a:latin typeface="Times New Roman" panose="02020603050405020304" pitchFamily="18" charset="0"/>
                <a:cs typeface="Times New Roman" panose="02020603050405020304" pitchFamily="18" charset="0"/>
              </a:rPr>
              <a:t>8.Expected outcome</a:t>
            </a:r>
          </a:p>
          <a:p>
            <a:pPr marL="114300" indent="0">
              <a:buNone/>
            </a:pPr>
            <a:r>
              <a:rPr lang="en-IN" dirty="0">
                <a:latin typeface="Times New Roman" panose="02020603050405020304" pitchFamily="18" charset="0"/>
                <a:cs typeface="Times New Roman" panose="02020603050405020304" pitchFamily="18" charset="0"/>
              </a:rPr>
              <a:t>9.Conclusion</a:t>
            </a:r>
          </a:p>
          <a:p>
            <a:pPr marL="114300" indent="0">
              <a:buNone/>
            </a:pPr>
            <a:r>
              <a:rPr lang="en-IN" dirty="0">
                <a:latin typeface="Times New Roman" panose="02020603050405020304" pitchFamily="18" charset="0"/>
                <a:cs typeface="Times New Roman" panose="02020603050405020304" pitchFamily="18" charset="0"/>
              </a:rPr>
              <a:t>10.References.</a:t>
            </a:r>
          </a:p>
          <a:p>
            <a:endParaRPr lang="en-IN" dirty="0"/>
          </a:p>
        </p:txBody>
      </p:sp>
    </p:spTree>
    <p:extLst>
      <p:ext uri="{BB962C8B-B14F-4D97-AF65-F5344CB8AC3E}">
        <p14:creationId xmlns:p14="http://schemas.microsoft.com/office/powerpoint/2010/main" val="3228787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a:extLst>
              <a:ext uri="{FF2B5EF4-FFF2-40B4-BE49-F238E27FC236}">
                <a16:creationId xmlns:a16="http://schemas.microsoft.com/office/drawing/2014/main" id="{6FC35478-C930-5E6C-CB70-E7844B922BCE}"/>
              </a:ext>
            </a:extLst>
          </p:cNvPr>
          <p:cNvPicPr/>
          <p:nvPr/>
        </p:nvPicPr>
        <p:blipFill>
          <a:blip r:embed="rId2" cstate="print"/>
          <a:stretch>
            <a:fillRect/>
          </a:stretch>
        </p:blipFill>
        <p:spPr>
          <a:xfrm>
            <a:off x="290750" y="204311"/>
            <a:ext cx="1163002" cy="424338"/>
          </a:xfrm>
          <a:prstGeom prst="rect">
            <a:avLst/>
          </a:prstGeom>
        </p:spPr>
      </p:pic>
      <p:sp>
        <p:nvSpPr>
          <p:cNvPr id="5" name="TextBox 4">
            <a:extLst>
              <a:ext uri="{FF2B5EF4-FFF2-40B4-BE49-F238E27FC236}">
                <a16:creationId xmlns:a16="http://schemas.microsoft.com/office/drawing/2014/main" id="{1E37E852-30F0-CDED-0796-5F6B6ADC962E}"/>
              </a:ext>
            </a:extLst>
          </p:cNvPr>
          <p:cNvSpPr txBox="1"/>
          <p:nvPr/>
        </p:nvSpPr>
        <p:spPr>
          <a:xfrm>
            <a:off x="457200" y="1233333"/>
            <a:ext cx="11046542" cy="3170099"/>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Problem Formulation</a:t>
            </a:r>
            <a:endParaRPr lang="en-US" sz="2000" b="1" dirty="0">
              <a:latin typeface="Times New Roman" panose="02020603050405020304" pitchFamily="18" charset="0"/>
              <a:cs typeface="Times New Roman" panose="02020603050405020304" pitchFamily="18" charset="0"/>
            </a:endParaRPr>
          </a:p>
          <a:p>
            <a:pPr algn="just"/>
            <a:endParaRPr lang="en-US" dirty="0"/>
          </a:p>
          <a:p>
            <a:pPr algn="just"/>
            <a:r>
              <a:rPr lang="en-US" dirty="0">
                <a:latin typeface="Times New Roman" panose="02020603050405020304" pitchFamily="18" charset="0"/>
                <a:cs typeface="Times New Roman" panose="02020603050405020304" pitchFamily="18" charset="0"/>
              </a:rPr>
              <a:t>In today’s competitive business environment, organizations generate large volumes of customer data from various sources such as transactions, purchase history, and digital interactions. Although this data contains valuable insights into customer behavior and preferences, extracting meaningful information is challenging due to its size, complexity, and diversity. Traditional analysis methods often rely on basic statistical techniques, which are insufficient for identifying distinct customer segments, handling high-dimensional data, and uncovering hidden patterns. As a result, businesses face difficulties in implementing personalized marketing strategies, improving customer satisfaction, and increasing retention. Therefore, there is a need for an intelligent, scalable, and data-driven customer segmentation system that leverages advanced machine learning techniques to accurately group customers and support better decision-making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849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3">
            <a:extLst>
              <a:ext uri="{FF2B5EF4-FFF2-40B4-BE49-F238E27FC236}">
                <a16:creationId xmlns:a16="http://schemas.microsoft.com/office/drawing/2014/main" id="{1E59EF0A-4EB5-9DB6-04AC-187743F6E4F2}"/>
              </a:ext>
            </a:extLst>
          </p:cNvPr>
          <p:cNvPicPr/>
          <p:nvPr/>
        </p:nvPicPr>
        <p:blipFill>
          <a:blip r:embed="rId2" cstate="print"/>
          <a:stretch>
            <a:fillRect/>
          </a:stretch>
        </p:blipFill>
        <p:spPr>
          <a:xfrm>
            <a:off x="290750" y="204311"/>
            <a:ext cx="1163002" cy="424338"/>
          </a:xfrm>
          <a:prstGeom prst="rect">
            <a:avLst/>
          </a:prstGeom>
        </p:spPr>
      </p:pic>
      <p:sp>
        <p:nvSpPr>
          <p:cNvPr id="6" name="TextBox 5">
            <a:extLst>
              <a:ext uri="{FF2B5EF4-FFF2-40B4-BE49-F238E27FC236}">
                <a16:creationId xmlns:a16="http://schemas.microsoft.com/office/drawing/2014/main" id="{0A515700-F1C1-F47D-FC77-1DABC4FD8855}"/>
              </a:ext>
            </a:extLst>
          </p:cNvPr>
          <p:cNvSpPr txBox="1"/>
          <p:nvPr/>
        </p:nvSpPr>
        <p:spPr>
          <a:xfrm>
            <a:off x="283779" y="930166"/>
            <a:ext cx="11666483" cy="4247317"/>
          </a:xfrm>
          <a:prstGeom prst="rect">
            <a:avLst/>
          </a:prstGeom>
          <a:noFill/>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Problem Definition</a:t>
            </a:r>
          </a:p>
          <a:p>
            <a:pPr algn="just"/>
            <a:endParaRPr lang="en-US" dirty="0"/>
          </a:p>
          <a:p>
            <a:pPr algn="just"/>
            <a:r>
              <a:rPr lang="en-US" dirty="0">
                <a:latin typeface="Times New Roman" panose="02020603050405020304" pitchFamily="18" charset="0"/>
                <a:cs typeface="Times New Roman" panose="02020603050405020304" pitchFamily="18" charset="0"/>
              </a:rPr>
              <a:t>Traditional customer analysis methods mainly rely on manual techniques and basic statistical approaches, which are not efficient for handling large and complex datasets. These methods often fail to identify meaningful patterns in customer behavior and are time-consuming.</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They are unable to process large-scale customer data generated from multiple sources such as transactions, demographics, and online activities. As a result, businesses cannot effectively identify different customer groups or understand their preferences.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Additionally, these systems lack real-time processing and do not support dynamic segmentation, making it difficult to adapt to changing customer behavior. The results obtained are often less accurate and not suitable for strategic decision-making.</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Therefore, there is a need for an automated, scalable, and intelligent customer segmentation system that can analyze large datasets efficiently and provide accurate grouping of customers for better business insights.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60764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a:extLst>
              <a:ext uri="{FF2B5EF4-FFF2-40B4-BE49-F238E27FC236}">
                <a16:creationId xmlns:a16="http://schemas.microsoft.com/office/drawing/2014/main" id="{9493B86A-DE7A-B9CD-F9C9-6F18F1D255D0}"/>
              </a:ext>
            </a:extLst>
          </p:cNvPr>
          <p:cNvPicPr/>
          <p:nvPr/>
        </p:nvPicPr>
        <p:blipFill>
          <a:blip r:embed="rId2" cstate="print"/>
          <a:stretch>
            <a:fillRect/>
          </a:stretch>
        </p:blipFill>
        <p:spPr>
          <a:xfrm>
            <a:off x="290750" y="204311"/>
            <a:ext cx="1163002" cy="424338"/>
          </a:xfrm>
          <a:prstGeom prst="rect">
            <a:avLst/>
          </a:prstGeom>
        </p:spPr>
      </p:pic>
      <p:sp>
        <p:nvSpPr>
          <p:cNvPr id="5" name="Text Placeholder 1">
            <a:extLst>
              <a:ext uri="{FF2B5EF4-FFF2-40B4-BE49-F238E27FC236}">
                <a16:creationId xmlns:a16="http://schemas.microsoft.com/office/drawing/2014/main" id="{B696C402-149D-B2FD-1BCC-D01D7831B7AE}"/>
              </a:ext>
            </a:extLst>
          </p:cNvPr>
          <p:cNvSpPr txBox="1">
            <a:spLocks/>
          </p:cNvSpPr>
          <p:nvPr/>
        </p:nvSpPr>
        <p:spPr>
          <a:xfrm>
            <a:off x="4510060" y="531099"/>
            <a:ext cx="3587460" cy="5661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Font typeface="Arial" panose="020B0604020202020204" pitchFamily="34" charset="0"/>
              <a:buNone/>
            </a:pPr>
            <a:r>
              <a:rPr lang="en-IN" sz="2400" b="1">
                <a:latin typeface="Times New Roman" panose="02020603050405020304" pitchFamily="18" charset="0"/>
                <a:cs typeface="Times New Roman" panose="02020603050405020304" pitchFamily="18" charset="0"/>
              </a:rPr>
              <a:t>Literature Review</a:t>
            </a:r>
            <a:endParaRPr lang="en-IN" sz="2400" b="1"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06D1CF54-FE34-9793-D346-A47EB9AA0E50}"/>
              </a:ext>
            </a:extLst>
          </p:cNvPr>
          <p:cNvGraphicFramePr>
            <a:graphicFrameLocks noGrp="1"/>
          </p:cNvGraphicFramePr>
          <p:nvPr>
            <p:extLst>
              <p:ext uri="{D42A27DB-BD31-4B8C-83A1-F6EECF244321}">
                <p14:modId xmlns:p14="http://schemas.microsoft.com/office/powerpoint/2010/main" val="3905186681"/>
              </p:ext>
            </p:extLst>
          </p:nvPr>
        </p:nvGraphicFramePr>
        <p:xfrm>
          <a:off x="538655" y="1401096"/>
          <a:ext cx="11114690" cy="4439265"/>
        </p:xfrm>
        <a:graphic>
          <a:graphicData uri="http://schemas.openxmlformats.org/drawingml/2006/table">
            <a:tbl>
              <a:tblPr firstRow="1" bandRow="1">
                <a:tableStyleId>{3C2FFA5D-87B4-456A-9821-1D502468CF0F}</a:tableStyleId>
              </a:tblPr>
              <a:tblGrid>
                <a:gridCol w="2236327">
                  <a:extLst>
                    <a:ext uri="{9D8B030D-6E8A-4147-A177-3AD203B41FA5}">
                      <a16:colId xmlns:a16="http://schemas.microsoft.com/office/drawing/2014/main" val="20000"/>
                    </a:ext>
                  </a:extLst>
                </a:gridCol>
                <a:gridCol w="2309941">
                  <a:extLst>
                    <a:ext uri="{9D8B030D-6E8A-4147-A177-3AD203B41FA5}">
                      <a16:colId xmlns:a16="http://schemas.microsoft.com/office/drawing/2014/main" val="20001"/>
                    </a:ext>
                  </a:extLst>
                </a:gridCol>
                <a:gridCol w="3401335">
                  <a:extLst>
                    <a:ext uri="{9D8B030D-6E8A-4147-A177-3AD203B41FA5}">
                      <a16:colId xmlns:a16="http://schemas.microsoft.com/office/drawing/2014/main" val="20002"/>
                    </a:ext>
                  </a:extLst>
                </a:gridCol>
                <a:gridCol w="3167087">
                  <a:extLst>
                    <a:ext uri="{9D8B030D-6E8A-4147-A177-3AD203B41FA5}">
                      <a16:colId xmlns:a16="http://schemas.microsoft.com/office/drawing/2014/main" val="20003"/>
                    </a:ext>
                  </a:extLst>
                </a:gridCol>
              </a:tblGrid>
              <a:tr h="589936">
                <a:tc>
                  <a:txBody>
                    <a:bodyPr/>
                    <a:lstStyle/>
                    <a:p>
                      <a:pPr algn="ctr">
                        <a:buNone/>
                      </a:pPr>
                      <a:r>
                        <a:rPr lang="en-US" sz="1400" b="1" dirty="0">
                          <a:latin typeface="Times New Roman" panose="02020603050405020304" pitchFamily="18" charset="0"/>
                          <a:cs typeface="Times New Roman" panose="02020603050405020304" pitchFamily="18" charset="0"/>
                        </a:rPr>
                        <a:t>A</a:t>
                      </a:r>
                      <a:r>
                        <a:rPr lang="en-IN" sz="1400" b="1" dirty="0" err="1">
                          <a:latin typeface="Times New Roman" panose="02020603050405020304" pitchFamily="18" charset="0"/>
                          <a:cs typeface="Times New Roman" panose="02020603050405020304" pitchFamily="18" charset="0"/>
                        </a:rPr>
                        <a:t>uthor</a:t>
                      </a:r>
                      <a:r>
                        <a:rPr lang="en-IN" sz="1400" b="1" dirty="0">
                          <a:latin typeface="Times New Roman" panose="02020603050405020304" pitchFamily="18" charset="0"/>
                          <a:cs typeface="Times New Roman" panose="02020603050405020304" pitchFamily="18" charset="0"/>
                        </a:rPr>
                        <a:t> / Year</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400" b="1" dirty="0">
                          <a:latin typeface="Times New Roman" panose="02020603050405020304" pitchFamily="18" charset="0"/>
                          <a:cs typeface="Times New Roman" panose="02020603050405020304" pitchFamily="18" charset="0"/>
                        </a:rPr>
                        <a:t>M</a:t>
                      </a:r>
                      <a:r>
                        <a:rPr lang="en-IN" sz="1400" b="1" dirty="0" err="1">
                          <a:latin typeface="Times New Roman" panose="02020603050405020304" pitchFamily="18" charset="0"/>
                          <a:cs typeface="Times New Roman" panose="02020603050405020304" pitchFamily="18" charset="0"/>
                        </a:rPr>
                        <a:t>ethod</a:t>
                      </a:r>
                      <a:r>
                        <a:rPr lang="en-IN" sz="1400" b="1" dirty="0">
                          <a:latin typeface="Times New Roman" panose="02020603050405020304" pitchFamily="18" charset="0"/>
                          <a:cs typeface="Times New Roman" panose="02020603050405020304" pitchFamily="18" charset="0"/>
                        </a:rPr>
                        <a:t> Used</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US" sz="1400" b="1" dirty="0">
                          <a:latin typeface="Times New Roman" panose="02020603050405020304" pitchFamily="18" charset="0"/>
                          <a:cs typeface="Times New Roman" panose="02020603050405020304" pitchFamily="18" charset="0"/>
                        </a:rPr>
                        <a:t>      D</a:t>
                      </a:r>
                      <a:r>
                        <a:rPr lang="en-IN" sz="1400" b="1" dirty="0" err="1">
                          <a:latin typeface="Times New Roman" panose="02020603050405020304" pitchFamily="18" charset="0"/>
                          <a:cs typeface="Times New Roman" panose="02020603050405020304" pitchFamily="18" charset="0"/>
                        </a:rPr>
                        <a:t>escription</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400" b="1" dirty="0"/>
                        <a:t>Limitations</a:t>
                      </a:r>
                      <a:endParaRPr lang="en-IN"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0"/>
                  </a:ext>
                </a:extLst>
              </a:tr>
              <a:tr h="840658">
                <a:tc>
                  <a:txBody>
                    <a:bodyPr/>
                    <a:lstStyle/>
                    <a:p>
                      <a:pPr>
                        <a:buNone/>
                      </a:pPr>
                      <a:r>
                        <a:rPr lang="en-US" sz="1400" b="1" dirty="0"/>
                        <a:t>Smith et al. (2020)</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t>K-Means Clustering</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t>Used K-Means algorithm to group customers based on income and spending score for targeted marketing.	</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t>Sensitive to initial centroid selection and requires predefined number of clusters</a:t>
                      </a:r>
                      <a:endParaRPr lang="en-US"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1"/>
                  </a:ext>
                </a:extLst>
              </a:tr>
              <a:tr h="811161">
                <a:tc>
                  <a:txBody>
                    <a:bodyPr/>
                    <a:lstStyle/>
                    <a:p>
                      <a:pPr>
                        <a:buNone/>
                      </a:pPr>
                      <a:r>
                        <a:rPr lang="en-US" sz="1400" b="1" dirty="0"/>
                        <a:t>Sharma &amp; Gupta (2021)	</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t>Hierarchical Clustering	</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t>Applied hierarchical clustering to identify customer segments based on purchasing behavior.	</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t>Computationally expensive for large datasets and difficult to scale.</a:t>
                      </a:r>
                      <a:endParaRPr lang="en-US"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r h="1076632">
                <a:tc>
                  <a:txBody>
                    <a:bodyPr/>
                    <a:lstStyle/>
                    <a:p>
                      <a:pPr>
                        <a:buNone/>
                      </a:pPr>
                      <a:r>
                        <a:rPr lang="en-US" sz="1400" b="1" dirty="0"/>
                        <a:t>Kumar et al. (2022)	</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da-DK" sz="1400" dirty="0"/>
                        <a:t>Machine Learning Models	</a:t>
                      </a:r>
                      <a:endParaRPr lang="da-DK"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t>Combined clustering with classification models for better segmentation and prediction.</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t>Requires proper feature selection and high computational resources.</a:t>
                      </a:r>
                      <a:endParaRPr lang="en-US"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3"/>
                  </a:ext>
                </a:extLst>
              </a:tr>
              <a:tr h="1120878">
                <a:tc>
                  <a:txBody>
                    <a:bodyPr/>
                    <a:lstStyle/>
                    <a:p>
                      <a:pPr>
                        <a:buNone/>
                      </a:pPr>
                      <a:r>
                        <a:rPr lang="en-US" sz="1400" b="1" dirty="0"/>
                        <a:t>Research Papers (General)</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da-DK" sz="1400" dirty="0"/>
                        <a:t>Hybrid Approaches</a:t>
                      </a:r>
                      <a:endParaRPr lang="da-DK"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t>	Integrated multiple algorithms and preprocessing techniques to improve segmentation accuracy.	</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t>Complexity increases and implementation becomes difficult</a:t>
                      </a:r>
                      <a:endParaRPr lang="en-US" sz="14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72794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a:extLst>
              <a:ext uri="{FF2B5EF4-FFF2-40B4-BE49-F238E27FC236}">
                <a16:creationId xmlns:a16="http://schemas.microsoft.com/office/drawing/2014/main" id="{A0601A85-B688-C70B-2D2A-ECCEFF6476D0}"/>
              </a:ext>
            </a:extLst>
          </p:cNvPr>
          <p:cNvPicPr/>
          <p:nvPr/>
        </p:nvPicPr>
        <p:blipFill>
          <a:blip r:embed="rId2"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8A39F9E0-163B-687B-C26C-A85AF555226C}"/>
              </a:ext>
            </a:extLst>
          </p:cNvPr>
          <p:cNvSpPr txBox="1"/>
          <p:nvPr/>
        </p:nvSpPr>
        <p:spPr>
          <a:xfrm>
            <a:off x="5098724" y="531318"/>
            <a:ext cx="11610500" cy="677108"/>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Research Gap</a:t>
            </a:r>
          </a:p>
          <a:p>
            <a:endParaRPr lang="en-IN" dirty="0"/>
          </a:p>
        </p:txBody>
      </p:sp>
      <p:sp>
        <p:nvSpPr>
          <p:cNvPr id="4" name="TextBox 3">
            <a:extLst>
              <a:ext uri="{FF2B5EF4-FFF2-40B4-BE49-F238E27FC236}">
                <a16:creationId xmlns:a16="http://schemas.microsoft.com/office/drawing/2014/main" id="{A490437E-09AC-732C-F486-7A5BB707DFA8}"/>
              </a:ext>
            </a:extLst>
          </p:cNvPr>
          <p:cNvSpPr txBox="1"/>
          <p:nvPr/>
        </p:nvSpPr>
        <p:spPr>
          <a:xfrm>
            <a:off x="290750" y="1002890"/>
            <a:ext cx="11753766" cy="3693319"/>
          </a:xfrm>
          <a:prstGeom prst="rect">
            <a:avLst/>
          </a:prstGeom>
          <a:noFill/>
        </p:spPr>
        <p:txBody>
          <a:bodyPr wrap="square" rtlCol="0">
            <a:spAutoFit/>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Existing customer segmentation systems mainly rely on basic clustering techniques such as K-Means or Hierarchical Clustering without proper optimization or integration of multiple methods. Many approaches focus only on limited customer attributes like age and income, ignoring important behavioral factors such as purchasing patterns and spending habits.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addition, data preprocessing and feature selection are often not handled effectively, which leads to inaccurate and inconsistent segmentation results. Most existing systems also struggle to handle large-scale, real-world datasets and lack scalability for dynamic business environments.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Therefore, there is a need for a robust and efficient customer segmentation system that integrates data preprocessing, feature engineering, and advanced clustering algorithms to provide accurate, scalable, and meaningful customer groups for better business decision-making.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8549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a:extLst>
              <a:ext uri="{FF2B5EF4-FFF2-40B4-BE49-F238E27FC236}">
                <a16:creationId xmlns:a16="http://schemas.microsoft.com/office/drawing/2014/main" id="{E77E098F-2F52-D4E2-3561-67DDB2CF7D3C}"/>
              </a:ext>
            </a:extLst>
          </p:cNvPr>
          <p:cNvPicPr/>
          <p:nvPr/>
        </p:nvPicPr>
        <p:blipFill>
          <a:blip r:embed="rId2"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85F25E65-261D-5047-9B86-B2FFEC2F8101}"/>
              </a:ext>
            </a:extLst>
          </p:cNvPr>
          <p:cNvSpPr txBox="1"/>
          <p:nvPr/>
        </p:nvSpPr>
        <p:spPr>
          <a:xfrm>
            <a:off x="319548" y="1707392"/>
            <a:ext cx="11872452" cy="2031325"/>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develop a machine learning-based customer segmentation system</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perform data preprocessing and cleaning</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identify important features like income, spending score, age</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apply clustering algorithms like K-Means and Hierarchical Clustering</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improve segmentation accuracy and business decision-making  Visualize customer segments using graphs for better understanding</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 insights to improve marketing and customer retention</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6F72BA5-A0BC-0C9B-DC2A-B0C688278890}"/>
              </a:ext>
            </a:extLst>
          </p:cNvPr>
          <p:cNvSpPr txBox="1"/>
          <p:nvPr/>
        </p:nvSpPr>
        <p:spPr>
          <a:xfrm>
            <a:off x="4848533" y="259317"/>
            <a:ext cx="6098458" cy="400110"/>
          </a:xfrm>
          <a:prstGeom prst="rect">
            <a:avLst/>
          </a:prstGeom>
          <a:noFill/>
        </p:spPr>
        <p:txBody>
          <a:bodyPr wrap="square">
            <a:spAutoFit/>
          </a:bodyPr>
          <a:lstStyle/>
          <a:p>
            <a:r>
              <a:rPr lang="en-IN" sz="2000" b="1" noProof="1">
                <a:latin typeface="Times New Roman" panose="02020603050405020304" pitchFamily="18" charset="0"/>
                <a:cs typeface="Times New Roman" panose="02020603050405020304" pitchFamily="18" charset="0"/>
              </a:rPr>
              <a:t>Objectives</a:t>
            </a:r>
          </a:p>
        </p:txBody>
      </p:sp>
    </p:spTree>
    <p:extLst>
      <p:ext uri="{BB962C8B-B14F-4D97-AF65-F5344CB8AC3E}">
        <p14:creationId xmlns:p14="http://schemas.microsoft.com/office/powerpoint/2010/main" val="3615762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a:extLst>
              <a:ext uri="{FF2B5EF4-FFF2-40B4-BE49-F238E27FC236}">
                <a16:creationId xmlns:a16="http://schemas.microsoft.com/office/drawing/2014/main" id="{C7AC5E30-4C0F-ACB5-1EF4-391AA053A6C1}"/>
              </a:ext>
            </a:extLst>
          </p:cNvPr>
          <p:cNvPicPr/>
          <p:nvPr/>
        </p:nvPicPr>
        <p:blipFill>
          <a:blip r:embed="rId2"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C3D66669-3948-78CA-4354-0532A2327777}"/>
              </a:ext>
            </a:extLst>
          </p:cNvPr>
          <p:cNvSpPr txBox="1"/>
          <p:nvPr/>
        </p:nvSpPr>
        <p:spPr>
          <a:xfrm>
            <a:off x="1828801" y="1720840"/>
            <a:ext cx="11710220" cy="313932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Handling large and complex customer datasets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Managing missing, noisy, or inconsistent data</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Identifying important features affecting customer behavior</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Selecting the optimal number of clusters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Risk of overfitting in clustering models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Ensuring data privacy and security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Maintaining consistent segmentation accuracy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Difficulty in interpreting and labeling clusters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computational cost for large datasets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Challenges in real-time implementation and system integration</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p:txBody>
      </p:sp>
      <p:sp>
        <p:nvSpPr>
          <p:cNvPr id="5" name="TextBox 4">
            <a:extLst>
              <a:ext uri="{FF2B5EF4-FFF2-40B4-BE49-F238E27FC236}">
                <a16:creationId xmlns:a16="http://schemas.microsoft.com/office/drawing/2014/main" id="{FAE1F35A-D949-7A3E-4CD7-D531985A58DC}"/>
              </a:ext>
            </a:extLst>
          </p:cNvPr>
          <p:cNvSpPr txBox="1"/>
          <p:nvPr/>
        </p:nvSpPr>
        <p:spPr>
          <a:xfrm>
            <a:off x="4033684" y="452531"/>
            <a:ext cx="6150076"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Challenges</a:t>
            </a:r>
            <a:r>
              <a:rPr lang="en-IN" b="1" dirty="0">
                <a:latin typeface="Times New Roman" panose="02020603050405020304" pitchFamily="18" charset="0"/>
                <a:cs typeface="Times New Roman" panose="02020603050405020304" pitchFamily="18" charset="0"/>
              </a:rPr>
              <a:t> and Risks</a:t>
            </a:r>
          </a:p>
        </p:txBody>
      </p:sp>
    </p:spTree>
    <p:extLst>
      <p:ext uri="{BB962C8B-B14F-4D97-AF65-F5344CB8AC3E}">
        <p14:creationId xmlns:p14="http://schemas.microsoft.com/office/powerpoint/2010/main" val="2397183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a:extLst>
              <a:ext uri="{FF2B5EF4-FFF2-40B4-BE49-F238E27FC236}">
                <a16:creationId xmlns:a16="http://schemas.microsoft.com/office/drawing/2014/main" id="{2E524DDF-81B7-96F7-FF34-D033A217208D}"/>
              </a:ext>
            </a:extLst>
          </p:cNvPr>
          <p:cNvPicPr/>
          <p:nvPr/>
        </p:nvPicPr>
        <p:blipFill>
          <a:blip r:embed="rId2" cstate="print"/>
          <a:stretch>
            <a:fillRect/>
          </a:stretch>
        </p:blipFill>
        <p:spPr>
          <a:xfrm>
            <a:off x="290750" y="204311"/>
            <a:ext cx="1163002" cy="424338"/>
          </a:xfrm>
          <a:prstGeom prst="rect">
            <a:avLst/>
          </a:prstGeom>
        </p:spPr>
      </p:pic>
      <p:pic>
        <p:nvPicPr>
          <p:cNvPr id="6" name="Picture 5">
            <a:extLst>
              <a:ext uri="{FF2B5EF4-FFF2-40B4-BE49-F238E27FC236}">
                <a16:creationId xmlns:a16="http://schemas.microsoft.com/office/drawing/2014/main" id="{642990F4-609E-2340-792B-5FE6520800D3}"/>
              </a:ext>
            </a:extLst>
          </p:cNvPr>
          <p:cNvPicPr>
            <a:picLocks noChangeAspect="1"/>
          </p:cNvPicPr>
          <p:nvPr/>
        </p:nvPicPr>
        <p:blipFill>
          <a:blip r:embed="rId3">
            <a:extLst>
              <a:ext uri="{28A0092B-C50C-407E-A947-70E740481C1C}">
                <a14:useLocalDpi xmlns:a14="http://schemas.microsoft.com/office/drawing/2010/main" val="0"/>
              </a:ext>
            </a:extLst>
          </a:blip>
          <a:srcRect t="13284" b="25950"/>
          <a:stretch>
            <a:fillRect/>
          </a:stretch>
        </p:blipFill>
        <p:spPr>
          <a:xfrm>
            <a:off x="5816599" y="2395753"/>
            <a:ext cx="6257414" cy="3002155"/>
          </a:xfrm>
          <a:prstGeom prst="rect">
            <a:avLst/>
          </a:prstGeom>
        </p:spPr>
      </p:pic>
      <p:sp>
        <p:nvSpPr>
          <p:cNvPr id="7" name="TextBox 6">
            <a:extLst>
              <a:ext uri="{FF2B5EF4-FFF2-40B4-BE49-F238E27FC236}">
                <a16:creationId xmlns:a16="http://schemas.microsoft.com/office/drawing/2014/main" id="{75593BD9-CADF-59DF-4015-0588F59B9B8B}"/>
              </a:ext>
            </a:extLst>
          </p:cNvPr>
          <p:cNvSpPr txBox="1"/>
          <p:nvPr/>
        </p:nvSpPr>
        <p:spPr>
          <a:xfrm>
            <a:off x="290750" y="826955"/>
            <a:ext cx="5772354" cy="563231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 </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Customer data is collected from a customer segmentation dataset (CSV file) containing attributes such as Age, Gender, Annual Income, and Spending Score.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Data preprocessing is performed, including data cleaning, handling missing values, normalization, and feature selection to ensure data quality and consistency.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dataset is then divided into relevant feature sets for analysis, focusing on key attributes that influence customer behavior.</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Machine learning algorithms such as K-Means Clustering and Hierarchical Clustering are applied to group customers into distinct segments based on similarities in their data.</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Model performance is evaluated using visualization techniques such as cluster plots and </a:t>
            </a:r>
            <a:r>
              <a:rPr lang="en-US" b="1" dirty="0">
                <a:latin typeface="Times New Roman" panose="02020603050405020304" pitchFamily="18" charset="0"/>
                <a:cs typeface="Times New Roman" panose="02020603050405020304" pitchFamily="18" charset="0"/>
              </a:rPr>
              <a:t>graphs.</a:t>
            </a:r>
            <a:endParaRPr lang="en-IN" b="1" dirty="0">
              <a:latin typeface="Times New Roman" panose="02020603050405020304" pitchFamily="18" charset="0"/>
              <a:cs typeface="Times New Roman" panose="02020603050405020304" pitchFamily="18" charset="0"/>
            </a:endParaRPr>
          </a:p>
          <a:p>
            <a:endParaRPr lang="en-IN" dirty="0"/>
          </a:p>
        </p:txBody>
      </p:sp>
      <p:sp>
        <p:nvSpPr>
          <p:cNvPr id="9" name="TextBox 8">
            <a:extLst>
              <a:ext uri="{FF2B5EF4-FFF2-40B4-BE49-F238E27FC236}">
                <a16:creationId xmlns:a16="http://schemas.microsoft.com/office/drawing/2014/main" id="{D04EEDEA-C392-DE0C-8370-68D6FBF5CF1C}"/>
              </a:ext>
            </a:extLst>
          </p:cNvPr>
          <p:cNvSpPr txBox="1"/>
          <p:nvPr/>
        </p:nvSpPr>
        <p:spPr>
          <a:xfrm>
            <a:off x="4491908" y="426845"/>
            <a:ext cx="609845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Methodology</a:t>
            </a:r>
          </a:p>
        </p:txBody>
      </p:sp>
    </p:spTree>
    <p:extLst>
      <p:ext uri="{BB962C8B-B14F-4D97-AF65-F5344CB8AC3E}">
        <p14:creationId xmlns:p14="http://schemas.microsoft.com/office/powerpoint/2010/main" val="1096121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FA9EDB-9AF4-D242-B425-F3550C08A120}"/>
              </a:ext>
            </a:extLst>
          </p:cNvPr>
          <p:cNvSpPr txBox="1"/>
          <p:nvPr/>
        </p:nvSpPr>
        <p:spPr>
          <a:xfrm>
            <a:off x="1129288" y="1490631"/>
            <a:ext cx="6098458" cy="3200876"/>
          </a:xfrm>
          <a:prstGeom prst="rect">
            <a:avLst/>
          </a:prstGeom>
          <a:noFill/>
        </p:spPr>
        <p:txBody>
          <a:bodyPr wrap="square">
            <a:spAutoFit/>
          </a:bodyPr>
          <a:lstStyle/>
          <a:p>
            <a:r>
              <a:rPr lang="en-IN" sz="2000" b="1" dirty="0"/>
              <a:t>Software Requirements: </a:t>
            </a:r>
          </a:p>
          <a:p>
            <a:pPr marL="285750" indent="-285750">
              <a:buFont typeface="Arial" panose="020B0604020202020204" pitchFamily="34" charset="0"/>
              <a:buChar char="•"/>
            </a:pPr>
            <a:r>
              <a:rPr lang="en-IN" dirty="0"/>
              <a:t>Programming Language: Python</a:t>
            </a:r>
          </a:p>
          <a:p>
            <a:pPr marL="285750" indent="-285750">
              <a:buFont typeface="Arial" panose="020B0604020202020204" pitchFamily="34" charset="0"/>
              <a:buChar char="•"/>
            </a:pPr>
            <a:r>
              <a:rPr lang="en-IN" dirty="0"/>
              <a:t>Machine Learning: Scikit-learn</a:t>
            </a:r>
          </a:p>
          <a:p>
            <a:pPr marL="285750" indent="-285750">
              <a:buFont typeface="Arial" panose="020B0604020202020204" pitchFamily="34" charset="0"/>
              <a:buChar char="•"/>
            </a:pPr>
            <a:r>
              <a:rPr lang="en-IN" dirty="0"/>
              <a:t>Backend: Flask / Django</a:t>
            </a:r>
          </a:p>
          <a:p>
            <a:pPr marL="285750" indent="-285750">
              <a:buFont typeface="Arial" panose="020B0604020202020204" pitchFamily="34" charset="0"/>
              <a:buChar char="•"/>
            </a:pPr>
            <a:r>
              <a:rPr lang="en-IN" dirty="0"/>
              <a:t>Database: MySQL / Firebase</a:t>
            </a:r>
          </a:p>
          <a:p>
            <a:pPr marL="285750" indent="-285750">
              <a:buFont typeface="Arial" panose="020B0604020202020204" pitchFamily="34" charset="0"/>
              <a:buChar char="•"/>
            </a:pPr>
            <a:r>
              <a:rPr lang="en-IN" dirty="0"/>
              <a:t>Frontend: HTML, CSS, JavaScript</a:t>
            </a:r>
          </a:p>
          <a:p>
            <a:endParaRPr lang="en-IN" dirty="0"/>
          </a:p>
          <a:p>
            <a:r>
              <a:rPr lang="en-IN" sz="2000" b="1" dirty="0"/>
              <a:t>Hardware Requirements:</a:t>
            </a:r>
          </a:p>
          <a:p>
            <a:pPr marL="285750" indent="-285750">
              <a:buFont typeface="Arial" panose="020B0604020202020204" pitchFamily="34" charset="0"/>
              <a:buChar char="•"/>
            </a:pPr>
            <a:r>
              <a:rPr lang="en-IN" dirty="0"/>
              <a:t>Processor: Intel i5 or above</a:t>
            </a:r>
          </a:p>
          <a:p>
            <a:pPr marL="285750" indent="-285750">
              <a:buFont typeface="Arial" panose="020B0604020202020204" pitchFamily="34" charset="0"/>
              <a:buChar char="•"/>
            </a:pPr>
            <a:r>
              <a:rPr lang="en-IN" dirty="0"/>
              <a:t>RAM: Minimum 8GB</a:t>
            </a:r>
          </a:p>
          <a:p>
            <a:pPr marL="285750" indent="-285750">
              <a:buFont typeface="Arial" panose="020B0604020202020204" pitchFamily="34" charset="0"/>
              <a:buChar char="•"/>
            </a:pPr>
            <a:r>
              <a:rPr lang="en-IN" dirty="0"/>
              <a:t>Storage: 256GB SSD</a:t>
            </a:r>
          </a:p>
        </p:txBody>
      </p:sp>
      <p:sp>
        <p:nvSpPr>
          <p:cNvPr id="5" name="TextBox 4">
            <a:extLst>
              <a:ext uri="{FF2B5EF4-FFF2-40B4-BE49-F238E27FC236}">
                <a16:creationId xmlns:a16="http://schemas.microsoft.com/office/drawing/2014/main" id="{A5BAA586-9974-88C1-9557-761EDCB7A27B}"/>
              </a:ext>
            </a:extLst>
          </p:cNvPr>
          <p:cNvSpPr txBox="1"/>
          <p:nvPr/>
        </p:nvSpPr>
        <p:spPr>
          <a:xfrm>
            <a:off x="3845642" y="619121"/>
            <a:ext cx="609845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Technology Requirements</a:t>
            </a:r>
          </a:p>
        </p:txBody>
      </p:sp>
      <p:pic>
        <p:nvPicPr>
          <p:cNvPr id="6" name="object 3">
            <a:extLst>
              <a:ext uri="{FF2B5EF4-FFF2-40B4-BE49-F238E27FC236}">
                <a16:creationId xmlns:a16="http://schemas.microsoft.com/office/drawing/2014/main" id="{2AEF0452-5E32-39E0-890A-9EB3D9013C01}"/>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3691059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a:extLst>
              <a:ext uri="{FF2B5EF4-FFF2-40B4-BE49-F238E27FC236}">
                <a16:creationId xmlns:a16="http://schemas.microsoft.com/office/drawing/2014/main" id="{530C64FC-7FB4-FA91-312C-719A5EEE0AA5}"/>
              </a:ext>
            </a:extLst>
          </p:cNvPr>
          <p:cNvPicPr/>
          <p:nvPr/>
        </p:nvPicPr>
        <p:blipFill>
          <a:blip r:embed="rId2" cstate="print"/>
          <a:stretch>
            <a:fillRect/>
          </a:stretch>
        </p:blipFill>
        <p:spPr>
          <a:xfrm>
            <a:off x="290750" y="204311"/>
            <a:ext cx="1163002" cy="424338"/>
          </a:xfrm>
          <a:prstGeom prst="rect">
            <a:avLst/>
          </a:prstGeom>
        </p:spPr>
      </p:pic>
      <p:sp>
        <p:nvSpPr>
          <p:cNvPr id="4" name="TextBox 3">
            <a:extLst>
              <a:ext uri="{FF2B5EF4-FFF2-40B4-BE49-F238E27FC236}">
                <a16:creationId xmlns:a16="http://schemas.microsoft.com/office/drawing/2014/main" id="{C53C33D6-4268-DE51-F1AE-C27AF62E981E}"/>
              </a:ext>
            </a:extLst>
          </p:cNvPr>
          <p:cNvSpPr txBox="1"/>
          <p:nvPr/>
        </p:nvSpPr>
        <p:spPr>
          <a:xfrm>
            <a:off x="1574390" y="1699651"/>
            <a:ext cx="6098458" cy="2031325"/>
          </a:xfrm>
          <a:prstGeom prst="rect">
            <a:avLst/>
          </a:prstGeom>
          <a:noFill/>
        </p:spPr>
        <p:txBody>
          <a:bodyPr wrap="square">
            <a:spAutoFit/>
          </a:bodyPr>
          <a:lstStyle/>
          <a:p>
            <a:pPr marL="285750" indent="-285750">
              <a:buFont typeface="Arial" panose="020B0604020202020204" pitchFamily="34" charset="0"/>
              <a:buChar char="•"/>
            </a:pPr>
            <a:r>
              <a:rPr lang="en-IN" dirty="0"/>
              <a:t>Customer Segmentation Dataset (Kaggle)</a:t>
            </a:r>
          </a:p>
          <a:p>
            <a:pPr marL="285750" indent="-285750">
              <a:buFont typeface="Arial" panose="020B0604020202020204" pitchFamily="34" charset="0"/>
              <a:buChar char="•"/>
            </a:pPr>
            <a:r>
              <a:rPr lang="en-IN" dirty="0"/>
              <a:t>Features include:</a:t>
            </a:r>
          </a:p>
          <a:p>
            <a:pPr marL="285750" indent="-285750">
              <a:buFont typeface="Arial" panose="020B0604020202020204" pitchFamily="34" charset="0"/>
              <a:buChar char="•"/>
            </a:pPr>
            <a:r>
              <a:rPr lang="en-IN" dirty="0"/>
              <a:t>Customer ID</a:t>
            </a:r>
          </a:p>
          <a:p>
            <a:pPr marL="285750" indent="-285750">
              <a:buFont typeface="Arial" panose="020B0604020202020204" pitchFamily="34" charset="0"/>
              <a:buChar char="•"/>
            </a:pPr>
            <a:r>
              <a:rPr lang="en-IN" dirty="0"/>
              <a:t>Age</a:t>
            </a:r>
          </a:p>
          <a:p>
            <a:pPr marL="285750" indent="-285750">
              <a:buFont typeface="Arial" panose="020B0604020202020204" pitchFamily="34" charset="0"/>
              <a:buChar char="•"/>
            </a:pPr>
            <a:r>
              <a:rPr lang="en-IN" dirty="0"/>
              <a:t>Gender</a:t>
            </a:r>
          </a:p>
          <a:p>
            <a:pPr marL="285750" indent="-285750">
              <a:buFont typeface="Arial" panose="020B0604020202020204" pitchFamily="34" charset="0"/>
              <a:buChar char="•"/>
            </a:pPr>
            <a:r>
              <a:rPr lang="en-IN" dirty="0"/>
              <a:t>Annual Income</a:t>
            </a:r>
          </a:p>
          <a:p>
            <a:pPr marL="285750" indent="-285750">
              <a:buFont typeface="Arial" panose="020B0604020202020204" pitchFamily="34" charset="0"/>
              <a:buChar char="•"/>
            </a:pPr>
            <a:r>
              <a:rPr lang="en-IN" dirty="0"/>
              <a:t>Spending Score</a:t>
            </a:r>
          </a:p>
        </p:txBody>
      </p:sp>
      <p:sp>
        <p:nvSpPr>
          <p:cNvPr id="6" name="TextBox 5">
            <a:extLst>
              <a:ext uri="{FF2B5EF4-FFF2-40B4-BE49-F238E27FC236}">
                <a16:creationId xmlns:a16="http://schemas.microsoft.com/office/drawing/2014/main" id="{79F4711E-0686-CE83-DEF3-C51979D63D79}"/>
              </a:ext>
            </a:extLst>
          </p:cNvPr>
          <p:cNvSpPr txBox="1"/>
          <p:nvPr/>
        </p:nvSpPr>
        <p:spPr>
          <a:xfrm>
            <a:off x="4125862" y="628649"/>
            <a:ext cx="609845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Dataset Requirements</a:t>
            </a:r>
          </a:p>
        </p:txBody>
      </p:sp>
    </p:spTree>
    <p:extLst>
      <p:ext uri="{BB962C8B-B14F-4D97-AF65-F5344CB8AC3E}">
        <p14:creationId xmlns:p14="http://schemas.microsoft.com/office/powerpoint/2010/main" val="647761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6C9C4B-7593-E50D-C7DC-487643961524}"/>
              </a:ext>
            </a:extLst>
          </p:cNvPr>
          <p:cNvSpPr txBox="1"/>
          <p:nvPr/>
        </p:nvSpPr>
        <p:spPr>
          <a:xfrm>
            <a:off x="5231991" y="672351"/>
            <a:ext cx="6098458" cy="646331"/>
          </a:xfrm>
          <a:prstGeom prst="rect">
            <a:avLst/>
          </a:prstGeom>
          <a:noFill/>
        </p:spPr>
        <p:txBody>
          <a:bodyPr wrap="square">
            <a:spAutoFit/>
          </a:bodyPr>
          <a:lstStyle/>
          <a:p>
            <a:pPr marL="114300" indent="0">
              <a:buNone/>
            </a:pPr>
            <a:r>
              <a:rPr lang="en-IN" sz="1800" b="1" dirty="0">
                <a:latin typeface="Times New Roman" panose="02020603050405020304" pitchFamily="18" charset="0"/>
                <a:cs typeface="Times New Roman" panose="02020603050405020304" pitchFamily="18" charset="0"/>
              </a:rPr>
              <a:t>Final Result </a:t>
            </a:r>
          </a:p>
          <a:p>
            <a:endParaRPr lang="en-IN" dirty="0"/>
          </a:p>
        </p:txBody>
      </p:sp>
      <p:pic>
        <p:nvPicPr>
          <p:cNvPr id="4" name="object 3">
            <a:extLst>
              <a:ext uri="{FF2B5EF4-FFF2-40B4-BE49-F238E27FC236}">
                <a16:creationId xmlns:a16="http://schemas.microsoft.com/office/drawing/2014/main" id="{D12E925C-4251-8060-F460-A24E1475CAFF}"/>
              </a:ext>
            </a:extLst>
          </p:cNvPr>
          <p:cNvPicPr/>
          <p:nvPr/>
        </p:nvPicPr>
        <p:blipFill>
          <a:blip r:embed="rId2" cstate="print"/>
          <a:stretch>
            <a:fillRect/>
          </a:stretch>
        </p:blipFill>
        <p:spPr>
          <a:xfrm>
            <a:off x="290750" y="204311"/>
            <a:ext cx="1163002" cy="424338"/>
          </a:xfrm>
          <a:prstGeom prst="rect">
            <a:avLst/>
          </a:prstGeom>
        </p:spPr>
      </p:pic>
      <p:pic>
        <p:nvPicPr>
          <p:cNvPr id="1028" name="Picture 4">
            <a:extLst>
              <a:ext uri="{FF2B5EF4-FFF2-40B4-BE49-F238E27FC236}">
                <a16:creationId xmlns:a16="http://schemas.microsoft.com/office/drawing/2014/main" id="{58E4282D-7BBB-C975-DBDD-FCAB205B3F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083" y="1231490"/>
            <a:ext cx="4745908" cy="439502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779CFA40-AE89-E3BD-D7B6-3FB4204965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2330245"/>
            <a:ext cx="4582164" cy="2374490"/>
          </a:xfrm>
          <a:prstGeom prst="rect">
            <a:avLst/>
          </a:prstGeom>
        </p:spPr>
      </p:pic>
    </p:spTree>
    <p:extLst>
      <p:ext uri="{BB962C8B-B14F-4D97-AF65-F5344CB8AC3E}">
        <p14:creationId xmlns:p14="http://schemas.microsoft.com/office/powerpoint/2010/main" val="1367845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948E27-9393-24BE-70AA-19280391E357}"/>
              </a:ext>
            </a:extLst>
          </p:cNvPr>
          <p:cNvSpPr txBox="1"/>
          <p:nvPr/>
        </p:nvSpPr>
        <p:spPr>
          <a:xfrm>
            <a:off x="3049229" y="1166843"/>
            <a:ext cx="6098458" cy="4247317"/>
          </a:xfrm>
          <a:prstGeom prst="rect">
            <a:avLst/>
          </a:prstGeom>
          <a:noFill/>
        </p:spPr>
        <p:txBody>
          <a:bodyPr wrap="square">
            <a:spAutoFit/>
          </a:bodyPr>
          <a:lstStyle/>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system successfully segments customers using machine learning techniques.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It helps businesses:</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Improve marketing strategies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Increase customer satisfaction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Boost sales and revenue</a:t>
            </a:r>
          </a:p>
          <a:p>
            <a:endParaRPr lang="en-IN"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              Future Enhancements:</a:t>
            </a:r>
          </a:p>
          <a:p>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Real-time segmentation</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Integration with CRM systems</a:t>
            </a: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Personalized recommendation systems</a:t>
            </a:r>
          </a:p>
        </p:txBody>
      </p:sp>
      <p:pic>
        <p:nvPicPr>
          <p:cNvPr id="4" name="object 3">
            <a:extLst>
              <a:ext uri="{FF2B5EF4-FFF2-40B4-BE49-F238E27FC236}">
                <a16:creationId xmlns:a16="http://schemas.microsoft.com/office/drawing/2014/main" id="{69A3CEF0-FCAA-DC17-B743-A15B2D24C006}"/>
              </a:ext>
            </a:extLst>
          </p:cNvPr>
          <p:cNvPicPr/>
          <p:nvPr/>
        </p:nvPicPr>
        <p:blipFill>
          <a:blip r:embed="rId2" cstate="print"/>
          <a:stretch>
            <a:fillRect/>
          </a:stretch>
        </p:blipFill>
        <p:spPr>
          <a:xfrm>
            <a:off x="290750" y="204311"/>
            <a:ext cx="1163002" cy="424338"/>
          </a:xfrm>
          <a:prstGeom prst="rect">
            <a:avLst/>
          </a:prstGeom>
        </p:spPr>
      </p:pic>
      <p:sp>
        <p:nvSpPr>
          <p:cNvPr id="6" name="TextBox 5">
            <a:extLst>
              <a:ext uri="{FF2B5EF4-FFF2-40B4-BE49-F238E27FC236}">
                <a16:creationId xmlns:a16="http://schemas.microsoft.com/office/drawing/2014/main" id="{16D980B1-C0BE-7608-AE2D-17A9DF08095D}"/>
              </a:ext>
            </a:extLst>
          </p:cNvPr>
          <p:cNvSpPr txBox="1"/>
          <p:nvPr/>
        </p:nvSpPr>
        <p:spPr>
          <a:xfrm>
            <a:off x="4597809" y="628649"/>
            <a:ext cx="6098458" cy="40011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4124999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a:extLst>
              <a:ext uri="{FF2B5EF4-FFF2-40B4-BE49-F238E27FC236}">
                <a16:creationId xmlns:a16="http://schemas.microsoft.com/office/drawing/2014/main" id="{8E5D62B5-3285-EDD1-3A10-246224F2AD52}"/>
              </a:ext>
            </a:extLst>
          </p:cNvPr>
          <p:cNvPicPr/>
          <p:nvPr/>
        </p:nvPicPr>
        <p:blipFill>
          <a:blip r:embed="rId2" cstate="print"/>
          <a:stretch>
            <a:fillRect/>
          </a:stretch>
        </p:blipFill>
        <p:spPr>
          <a:xfrm>
            <a:off x="290750" y="204311"/>
            <a:ext cx="1163002" cy="424338"/>
          </a:xfrm>
          <a:prstGeom prst="rect">
            <a:avLst/>
          </a:prstGeom>
        </p:spPr>
      </p:pic>
      <p:sp>
        <p:nvSpPr>
          <p:cNvPr id="4" name="TextBox 3">
            <a:extLst>
              <a:ext uri="{FF2B5EF4-FFF2-40B4-BE49-F238E27FC236}">
                <a16:creationId xmlns:a16="http://schemas.microsoft.com/office/drawing/2014/main" id="{A83B26D4-76F8-CFCF-B4BC-EBCA6A110C8A}"/>
              </a:ext>
            </a:extLst>
          </p:cNvPr>
          <p:cNvSpPr txBox="1"/>
          <p:nvPr/>
        </p:nvSpPr>
        <p:spPr>
          <a:xfrm>
            <a:off x="471948" y="2026964"/>
            <a:ext cx="11473546" cy="1477328"/>
          </a:xfrm>
          <a:prstGeom prst="rect">
            <a:avLst/>
          </a:prstGeom>
          <a:noFill/>
        </p:spPr>
        <p:txBody>
          <a:bodyPr wrap="square">
            <a:spAutoFit/>
          </a:bodyPr>
          <a:lstStyle/>
          <a:p>
            <a:pPr marL="342900" indent="-342900" algn="just">
              <a:buAutoNum type="arabicPeriod"/>
            </a:pPr>
            <a:r>
              <a:rPr lang="en-IN" dirty="0">
                <a:latin typeface="Times New Roman" panose="02020603050405020304" pitchFamily="18" charset="0"/>
                <a:cs typeface="Times New Roman" panose="02020603050405020304" pitchFamily="18" charset="0"/>
              </a:rPr>
              <a:t>T. Hastie, R. </a:t>
            </a:r>
            <a:r>
              <a:rPr lang="en-IN" dirty="0" err="1">
                <a:latin typeface="Times New Roman" panose="02020603050405020304" pitchFamily="18" charset="0"/>
                <a:cs typeface="Times New Roman" panose="02020603050405020304" pitchFamily="18" charset="0"/>
              </a:rPr>
              <a:t>Tibshirani</a:t>
            </a:r>
            <a:r>
              <a:rPr lang="en-IN" dirty="0">
                <a:latin typeface="Times New Roman" panose="02020603050405020304" pitchFamily="18" charset="0"/>
                <a:cs typeface="Times New Roman" panose="02020603050405020304" pitchFamily="18" charset="0"/>
              </a:rPr>
              <a:t> , and J. Friedman, “The Elements of  Statistical Learning”, Springer, 2009.  </a:t>
            </a:r>
          </a:p>
          <a:p>
            <a:pPr algn="just"/>
            <a:r>
              <a:rPr lang="en-IN" dirty="0">
                <a:latin typeface="Times New Roman" panose="02020603050405020304" pitchFamily="18" charset="0"/>
                <a:cs typeface="Times New Roman" panose="02020603050405020304" pitchFamily="18" charset="0"/>
              </a:rPr>
              <a:t>2. J. Han, M. Kamber, and J. Pei, “Data Mining: Concepts and  Techniques”, Morgan Kaufmann, 2011.  </a:t>
            </a:r>
          </a:p>
          <a:p>
            <a:pPr algn="just"/>
            <a:r>
              <a:rPr lang="en-IN" dirty="0">
                <a:latin typeface="Times New Roman" panose="02020603050405020304" pitchFamily="18" charset="0"/>
                <a:cs typeface="Times New Roman" panose="02020603050405020304" pitchFamily="18" charset="0"/>
              </a:rPr>
              <a:t>3. Scikit-learn Developers, “Scikit-learn: Machine Learning in Python”, 2025. [Online]. Available: https://scikit-learn.org  </a:t>
            </a:r>
          </a:p>
          <a:p>
            <a:pPr algn="just"/>
            <a:r>
              <a:rPr lang="en-IN" dirty="0">
                <a:latin typeface="Times New Roman" panose="02020603050405020304" pitchFamily="18" charset="0"/>
                <a:cs typeface="Times New Roman" panose="02020603050405020304" pitchFamily="18" charset="0"/>
              </a:rPr>
              <a:t>4. Google </a:t>
            </a:r>
            <a:r>
              <a:rPr lang="en-IN" dirty="0" err="1">
                <a:latin typeface="Times New Roman" panose="02020603050405020304" pitchFamily="18" charset="0"/>
                <a:cs typeface="Times New Roman" panose="02020603050405020304" pitchFamily="18" charset="0"/>
              </a:rPr>
              <a:t>Colaboratory</a:t>
            </a:r>
            <a:r>
              <a:rPr lang="en-IN" dirty="0">
                <a:latin typeface="Times New Roman" panose="02020603050405020304" pitchFamily="18" charset="0"/>
                <a:cs typeface="Times New Roman" panose="02020603050405020304" pitchFamily="18" charset="0"/>
              </a:rPr>
              <a:t> , “Google </a:t>
            </a:r>
            <a:r>
              <a:rPr lang="en-IN" dirty="0" err="1">
                <a:latin typeface="Times New Roman" panose="02020603050405020304" pitchFamily="18" charset="0"/>
                <a:cs typeface="Times New Roman" panose="02020603050405020304" pitchFamily="18" charset="0"/>
              </a:rPr>
              <a:t>Colab</a:t>
            </a:r>
            <a:r>
              <a:rPr lang="en-IN" dirty="0">
                <a:latin typeface="Times New Roman" panose="02020603050405020304" pitchFamily="18" charset="0"/>
                <a:cs typeface="Times New Roman" panose="02020603050405020304" pitchFamily="18" charset="0"/>
              </a:rPr>
              <a:t> Documentation”, [Online].  Available: https://colab.research.google.com  </a:t>
            </a:r>
          </a:p>
          <a:p>
            <a:pPr algn="just"/>
            <a:r>
              <a:rPr lang="en-IN" dirty="0">
                <a:latin typeface="Times New Roman" panose="02020603050405020304" pitchFamily="18" charset="0"/>
                <a:cs typeface="Times New Roman" panose="02020603050405020304" pitchFamily="18" charset="0"/>
              </a:rPr>
              <a:t>5. J. VanderPlas, “Python Data Science Handbook: Essential Tools for Working with Data”, O’Reilly Media, 2016.  </a:t>
            </a:r>
          </a:p>
        </p:txBody>
      </p:sp>
      <p:sp>
        <p:nvSpPr>
          <p:cNvPr id="6" name="TextBox 5">
            <a:extLst>
              <a:ext uri="{FF2B5EF4-FFF2-40B4-BE49-F238E27FC236}">
                <a16:creationId xmlns:a16="http://schemas.microsoft.com/office/drawing/2014/main" id="{86FF8C54-336F-9A46-834E-F3AA5E3B629F}"/>
              </a:ext>
            </a:extLst>
          </p:cNvPr>
          <p:cNvSpPr txBox="1"/>
          <p:nvPr/>
        </p:nvSpPr>
        <p:spPr>
          <a:xfrm>
            <a:off x="4509319" y="416480"/>
            <a:ext cx="6098458" cy="498663"/>
          </a:xfrm>
          <a:prstGeom prst="rect">
            <a:avLst/>
          </a:prstGeom>
          <a:noFill/>
        </p:spPr>
        <p:txBody>
          <a:bodyPr wrap="square">
            <a:spAutoFit/>
          </a:bodyPr>
          <a:lstStyle/>
          <a:p>
            <a:pPr marL="114300" indent="0" algn="just">
              <a:lnSpc>
                <a:spcPct val="150000"/>
              </a:lnSpc>
              <a:buNone/>
            </a:pPr>
            <a:r>
              <a:rPr lang="en-IN" sz="2000" b="1"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702346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D8B086-AA13-0294-24B2-2D7861174CD0}"/>
              </a:ext>
            </a:extLst>
          </p:cNvPr>
          <p:cNvSpPr txBox="1"/>
          <p:nvPr/>
        </p:nvSpPr>
        <p:spPr>
          <a:xfrm>
            <a:off x="2825545" y="3059668"/>
            <a:ext cx="6098458" cy="861774"/>
          </a:xfrm>
          <a:prstGeom prst="rect">
            <a:avLst/>
          </a:prstGeom>
          <a:noFill/>
        </p:spPr>
        <p:txBody>
          <a:bodyPr wrap="square">
            <a:spAutoFit/>
          </a:bodyPr>
          <a:lstStyle/>
          <a:p>
            <a:pPr marL="0" marR="0" lvl="0" indent="0" algn="ctr" rtl="0">
              <a:spcBef>
                <a:spcPts val="0"/>
              </a:spcBef>
              <a:spcAft>
                <a:spcPts val="0"/>
              </a:spcAft>
              <a:buNone/>
            </a:pPr>
            <a:r>
              <a:rPr lang="en-US" sz="5000" b="1" cap="none" dirty="0">
                <a:solidFill>
                  <a:srgbClr val="1E4E79"/>
                </a:solidFill>
                <a:latin typeface="Times New Roman" panose="02020603050405020304" pitchFamily="18" charset="0"/>
                <a:ea typeface="Libre Franklin Black"/>
                <a:cs typeface="Times New Roman" panose="02020603050405020304" pitchFamily="18" charset="0"/>
                <a:sym typeface="Libre Franklin Black"/>
              </a:rPr>
              <a:t>THANK YOU</a:t>
            </a:r>
          </a:p>
        </p:txBody>
      </p:sp>
      <p:pic>
        <p:nvPicPr>
          <p:cNvPr id="4" name="object 3">
            <a:extLst>
              <a:ext uri="{FF2B5EF4-FFF2-40B4-BE49-F238E27FC236}">
                <a16:creationId xmlns:a16="http://schemas.microsoft.com/office/drawing/2014/main" id="{179F670D-9985-AD51-387D-928213243F3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8231652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1127</Words>
  <Application>Microsoft Office PowerPoint</Application>
  <PresentationFormat>Widescreen</PresentationFormat>
  <Paragraphs>135</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24B11AI159</dc:creator>
  <cp:lastModifiedBy>24B11AI159</cp:lastModifiedBy>
  <cp:revision>3</cp:revision>
  <dcterms:created xsi:type="dcterms:W3CDTF">2026-03-23T05:10:31Z</dcterms:created>
  <dcterms:modified xsi:type="dcterms:W3CDTF">2026-03-23T09:00:04Z</dcterms:modified>
</cp:coreProperties>
</file>